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koto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Canva Sans Medium" charset="1" panose="020B06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30.pn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9745" y="1987249"/>
            <a:ext cx="15826460" cy="161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01"/>
              </a:lnSpc>
            </a:pPr>
            <a:r>
              <a:rPr lang="en-US" sz="10000" spc="-1240">
                <a:solidFill>
                  <a:srgbClr val="4D9FAF"/>
                </a:solidFill>
                <a:latin typeface="Mokoto"/>
                <a:ea typeface="Mokoto"/>
                <a:cs typeface="Mokoto"/>
                <a:sym typeface="Mokoto"/>
              </a:rPr>
              <a:t>APACHE SPARK: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1284087" y="-1406260"/>
            <a:ext cx="2525072" cy="3773885"/>
          </a:xfrm>
          <a:custGeom>
            <a:avLst/>
            <a:gdLst/>
            <a:ahLst/>
            <a:cxnLst/>
            <a:rect r="r" b="b" t="t" l="l"/>
            <a:pathLst>
              <a:path h="3773885" w="2525072">
                <a:moveTo>
                  <a:pt x="0" y="0"/>
                </a:moveTo>
                <a:lnTo>
                  <a:pt x="2525072" y="0"/>
                </a:lnTo>
                <a:lnTo>
                  <a:pt x="2525072" y="3773885"/>
                </a:lnTo>
                <a:lnTo>
                  <a:pt x="0" y="3773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49992" y="7364372"/>
            <a:ext cx="9453842" cy="3919047"/>
          </a:xfrm>
          <a:custGeom>
            <a:avLst/>
            <a:gdLst/>
            <a:ahLst/>
            <a:cxnLst/>
            <a:rect r="r" b="b" t="t" l="l"/>
            <a:pathLst>
              <a:path h="3919047" w="9453842">
                <a:moveTo>
                  <a:pt x="0" y="0"/>
                </a:moveTo>
                <a:lnTo>
                  <a:pt x="9453842" y="0"/>
                </a:lnTo>
                <a:lnTo>
                  <a:pt x="9453842" y="3919048"/>
                </a:lnTo>
                <a:lnTo>
                  <a:pt x="0" y="3919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8592438" y="1427933"/>
            <a:ext cx="956758" cy="5979735"/>
          </a:xfrm>
          <a:custGeom>
            <a:avLst/>
            <a:gdLst/>
            <a:ahLst/>
            <a:cxnLst/>
            <a:rect r="r" b="b" t="t" l="l"/>
            <a:pathLst>
              <a:path h="5979735" w="956758">
                <a:moveTo>
                  <a:pt x="0" y="0"/>
                </a:moveTo>
                <a:lnTo>
                  <a:pt x="956758" y="0"/>
                </a:lnTo>
                <a:lnTo>
                  <a:pt x="956758" y="5979735"/>
                </a:lnTo>
                <a:lnTo>
                  <a:pt x="0" y="5979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39840" y="-873347"/>
            <a:ext cx="4133590" cy="4133590"/>
          </a:xfrm>
          <a:custGeom>
            <a:avLst/>
            <a:gdLst/>
            <a:ahLst/>
            <a:cxnLst/>
            <a:rect r="r" b="b" t="t" l="l"/>
            <a:pathLst>
              <a:path h="4133590" w="4133590">
                <a:moveTo>
                  <a:pt x="0" y="0"/>
                </a:moveTo>
                <a:lnTo>
                  <a:pt x="4133590" y="0"/>
                </a:lnTo>
                <a:lnTo>
                  <a:pt x="4133590" y="4133590"/>
                </a:lnTo>
                <a:lnTo>
                  <a:pt x="0" y="41335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8843977" y="3014944"/>
            <a:ext cx="858907" cy="5979735"/>
          </a:xfrm>
          <a:custGeom>
            <a:avLst/>
            <a:gdLst/>
            <a:ahLst/>
            <a:cxnLst/>
            <a:rect r="r" b="b" t="t" l="l"/>
            <a:pathLst>
              <a:path h="5979735" w="858907">
                <a:moveTo>
                  <a:pt x="0" y="0"/>
                </a:moveTo>
                <a:lnTo>
                  <a:pt x="858907" y="0"/>
                </a:lnTo>
                <a:lnTo>
                  <a:pt x="858907" y="5979736"/>
                </a:lnTo>
                <a:lnTo>
                  <a:pt x="0" y="5979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78832" y="7229853"/>
            <a:ext cx="2487716" cy="5105388"/>
          </a:xfrm>
          <a:custGeom>
            <a:avLst/>
            <a:gdLst/>
            <a:ahLst/>
            <a:cxnLst/>
            <a:rect r="r" b="b" t="t" l="l"/>
            <a:pathLst>
              <a:path h="5105388" w="2487716">
                <a:moveTo>
                  <a:pt x="0" y="0"/>
                </a:moveTo>
                <a:lnTo>
                  <a:pt x="2487716" y="0"/>
                </a:lnTo>
                <a:lnTo>
                  <a:pt x="2487716" y="5105388"/>
                </a:lnTo>
                <a:lnTo>
                  <a:pt x="0" y="51053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22975" y="7229853"/>
            <a:ext cx="2633170" cy="3368008"/>
          </a:xfrm>
          <a:custGeom>
            <a:avLst/>
            <a:gdLst/>
            <a:ahLst/>
            <a:cxnLst/>
            <a:rect r="r" b="b" t="t" l="l"/>
            <a:pathLst>
              <a:path h="3368008" w="2633170">
                <a:moveTo>
                  <a:pt x="0" y="0"/>
                </a:moveTo>
                <a:lnTo>
                  <a:pt x="2633171" y="0"/>
                </a:lnTo>
                <a:lnTo>
                  <a:pt x="2633171" y="3368009"/>
                </a:lnTo>
                <a:lnTo>
                  <a:pt x="0" y="33680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51031" y="7364372"/>
            <a:ext cx="2608676" cy="3368008"/>
          </a:xfrm>
          <a:custGeom>
            <a:avLst/>
            <a:gdLst/>
            <a:ahLst/>
            <a:cxnLst/>
            <a:rect r="r" b="b" t="t" l="l"/>
            <a:pathLst>
              <a:path h="3368008" w="2608676">
                <a:moveTo>
                  <a:pt x="0" y="0"/>
                </a:moveTo>
                <a:lnTo>
                  <a:pt x="2608676" y="0"/>
                </a:lnTo>
                <a:lnTo>
                  <a:pt x="2608676" y="3368009"/>
                </a:lnTo>
                <a:lnTo>
                  <a:pt x="0" y="33680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519125"/>
            <a:ext cx="14396152" cy="267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25"/>
              </a:lnSpc>
            </a:pPr>
            <a:r>
              <a:rPr lang="en-US" sz="8301" spc="-1029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COMPONENTES Y CASOS DE USO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0770" y="1987249"/>
            <a:ext cx="15826460" cy="161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01"/>
              </a:lnSpc>
            </a:pPr>
            <a:r>
              <a:rPr lang="en-US" sz="10000" spc="-1240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APACHE SPARK: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39694" y="2311154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539694" y="3247563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539694" y="4183972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539694" y="5120381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539694" y="6056791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539694" y="1374245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539694" y="1518546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03. ¿Qué es Apache Spark?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39694" y="2449202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05. Arquitectura General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9694" y="3396908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07. Ventajas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39694" y="4331081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08. Componentes principales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9694" y="5267490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10. Casos de uso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539694" y="7039936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539694" y="7976346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539694" y="8912755"/>
            <a:ext cx="738997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539694" y="6252872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06. Equipos y Aplicaciones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39694" y="7187045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07. Pensamiento Computacional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9694" y="8123455"/>
            <a:ext cx="7719606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4"/>
              </a:lnSpc>
              <a:spcBef>
                <a:spcPct val="0"/>
              </a:spcBef>
            </a:pPr>
            <a:r>
              <a:rPr lang="en-US" b="true" sz="3167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08. Resolución de Problemas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1867" y="1939095"/>
            <a:ext cx="7862133" cy="20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488"/>
              </a:lnSpc>
              <a:spcBef>
                <a:spcPct val="0"/>
              </a:spcBef>
            </a:pPr>
            <a:r>
              <a:rPr lang="en-US" sz="14080" spc="-1182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ÍNDICE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81867" y="4183972"/>
            <a:ext cx="3457161" cy="4080340"/>
          </a:xfrm>
          <a:custGeom>
            <a:avLst/>
            <a:gdLst/>
            <a:ahLst/>
            <a:cxnLst/>
            <a:rect r="r" b="b" t="t" l="l"/>
            <a:pathLst>
              <a:path h="4080340" w="3457161">
                <a:moveTo>
                  <a:pt x="0" y="0"/>
                </a:moveTo>
                <a:lnTo>
                  <a:pt x="3457161" y="0"/>
                </a:lnTo>
                <a:lnTo>
                  <a:pt x="3457161" y="4080340"/>
                </a:lnTo>
                <a:lnTo>
                  <a:pt x="0" y="408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697006" y="5334165"/>
            <a:ext cx="5600124" cy="7404010"/>
          </a:xfrm>
          <a:custGeom>
            <a:avLst/>
            <a:gdLst/>
            <a:ahLst/>
            <a:cxnLst/>
            <a:rect r="r" b="b" t="t" l="l"/>
            <a:pathLst>
              <a:path h="7404010" w="5600124">
                <a:moveTo>
                  <a:pt x="0" y="0"/>
                </a:moveTo>
                <a:lnTo>
                  <a:pt x="5600124" y="0"/>
                </a:lnTo>
                <a:lnTo>
                  <a:pt x="5600124" y="7404010"/>
                </a:lnTo>
                <a:lnTo>
                  <a:pt x="0" y="740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5341" y="808814"/>
            <a:ext cx="20835606" cy="2604951"/>
            <a:chOff x="0" y="0"/>
            <a:chExt cx="5487567" cy="6860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686078"/>
            </a:xfrm>
            <a:custGeom>
              <a:avLst/>
              <a:gdLst/>
              <a:ahLst/>
              <a:cxnLst/>
              <a:rect r="r" b="b" t="t" l="l"/>
              <a:pathLst>
                <a:path h="686078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686078"/>
                  </a:lnTo>
                  <a:lnTo>
                    <a:pt x="0" y="686078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73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3508757" y="-1064553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6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6" y="2563471"/>
                </a:lnTo>
                <a:lnTo>
                  <a:pt x="9751946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994293" y="8520479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5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5" y="2563471"/>
                </a:lnTo>
                <a:lnTo>
                  <a:pt x="9751945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62372" y="7313968"/>
            <a:ext cx="4640426" cy="2413022"/>
          </a:xfrm>
          <a:custGeom>
            <a:avLst/>
            <a:gdLst/>
            <a:ahLst/>
            <a:cxnLst/>
            <a:rect r="r" b="b" t="t" l="l"/>
            <a:pathLst>
              <a:path h="2413022" w="4640426">
                <a:moveTo>
                  <a:pt x="0" y="0"/>
                </a:moveTo>
                <a:lnTo>
                  <a:pt x="4640427" y="0"/>
                </a:lnTo>
                <a:lnTo>
                  <a:pt x="4640427" y="2413022"/>
                </a:lnTo>
                <a:lnTo>
                  <a:pt x="0" y="2413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74931" y="1683748"/>
            <a:ext cx="15400337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426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¿Qué es Apache Spark?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4931" y="4496284"/>
            <a:ext cx="12602493" cy="478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43"/>
              </a:lnSpc>
            </a:pPr>
            <a:r>
              <a:rPr lang="en-US" sz="33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Apach</a:t>
            </a:r>
            <a:r>
              <a:rPr lang="en-US" sz="33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Spark es un motor unificado de analíticas para procesar datos a gran escala de código abierto que integra módulos para SQL, streaming, aprendizaje automático y procesamiento de grafos.</a:t>
            </a:r>
          </a:p>
          <a:p>
            <a:pPr algn="just">
              <a:lnSpc>
                <a:spcPts val="4743"/>
              </a:lnSpc>
            </a:pPr>
          </a:p>
          <a:p>
            <a:pPr algn="just">
              <a:lnSpc>
                <a:spcPts val="4743"/>
              </a:lnSpc>
            </a:pPr>
            <a:r>
              <a:rPr lang="en-US" sz="33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Permite procesar datos de manera rápida, escalable y distribuida, tanto en memoria como en disco.</a:t>
            </a:r>
          </a:p>
          <a:p>
            <a:pPr algn="just">
              <a:lnSpc>
                <a:spcPts val="474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5341" y="808814"/>
            <a:ext cx="20835606" cy="2604951"/>
            <a:chOff x="0" y="0"/>
            <a:chExt cx="5487567" cy="6860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7567" cy="686078"/>
            </a:xfrm>
            <a:custGeom>
              <a:avLst/>
              <a:gdLst/>
              <a:ahLst/>
              <a:cxnLst/>
              <a:rect r="r" b="b" t="t" l="l"/>
              <a:pathLst>
                <a:path h="686078" w="5487567">
                  <a:moveTo>
                    <a:pt x="0" y="0"/>
                  </a:moveTo>
                  <a:lnTo>
                    <a:pt x="5487567" y="0"/>
                  </a:lnTo>
                  <a:lnTo>
                    <a:pt x="5487567" y="686078"/>
                  </a:lnTo>
                  <a:lnTo>
                    <a:pt x="0" y="686078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487567" cy="73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3508757" y="-1064553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6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6" y="2563471"/>
                </a:lnTo>
                <a:lnTo>
                  <a:pt x="9751946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994293" y="8520479"/>
            <a:ext cx="9751946" cy="2563471"/>
          </a:xfrm>
          <a:custGeom>
            <a:avLst/>
            <a:gdLst/>
            <a:ahLst/>
            <a:cxnLst/>
            <a:rect r="r" b="b" t="t" l="l"/>
            <a:pathLst>
              <a:path h="2563471" w="9751946">
                <a:moveTo>
                  <a:pt x="9751945" y="0"/>
                </a:moveTo>
                <a:lnTo>
                  <a:pt x="0" y="0"/>
                </a:lnTo>
                <a:lnTo>
                  <a:pt x="0" y="2563471"/>
                </a:lnTo>
                <a:lnTo>
                  <a:pt x="9751945" y="2563471"/>
                </a:lnTo>
                <a:lnTo>
                  <a:pt x="9751945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4931" y="1683748"/>
            <a:ext cx="15400337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spc="-426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¿Qué es Apache Spark?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7216" y="4496284"/>
            <a:ext cx="12602493" cy="478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43"/>
              </a:lnSpc>
            </a:pPr>
            <a:r>
              <a:rPr lang="en-US" sz="33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 principal c</a:t>
            </a:r>
            <a:r>
              <a:rPr lang="en-US" sz="33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aracterística es el uso del RDD (Resilient Distributed Dataset), una estructura que permite trabajar con datos distribuidos en memoria, mejorando notablemente el rendimiento.</a:t>
            </a:r>
          </a:p>
          <a:p>
            <a:pPr algn="just">
              <a:lnSpc>
                <a:spcPts val="4743"/>
              </a:lnSpc>
            </a:pPr>
            <a:r>
              <a:rPr lang="en-US" sz="33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Puede ejecutarse en distintos entornos, como Hadoop YARN, Apache Mesos, Kubernetes o de manera independiente (Standalone).</a:t>
            </a:r>
          </a:p>
          <a:p>
            <a:pPr algn="just">
              <a:lnSpc>
                <a:spcPts val="4743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394563" y="5305325"/>
            <a:ext cx="4980565" cy="6430307"/>
          </a:xfrm>
          <a:custGeom>
            <a:avLst/>
            <a:gdLst/>
            <a:ahLst/>
            <a:cxnLst/>
            <a:rect r="r" b="b" t="t" l="l"/>
            <a:pathLst>
              <a:path h="6430307" w="4980565">
                <a:moveTo>
                  <a:pt x="0" y="0"/>
                </a:moveTo>
                <a:lnTo>
                  <a:pt x="4980565" y="0"/>
                </a:lnTo>
                <a:lnTo>
                  <a:pt x="4980565" y="6430307"/>
                </a:lnTo>
                <a:lnTo>
                  <a:pt x="0" y="6430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76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2461598" y="-60753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77208"/>
            <a:ext cx="16374040" cy="8732583"/>
            <a:chOff x="0" y="0"/>
            <a:chExt cx="4312504" cy="22999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2504" cy="2299940"/>
            </a:xfrm>
            <a:custGeom>
              <a:avLst/>
              <a:gdLst/>
              <a:ahLst/>
              <a:cxnLst/>
              <a:rect r="r" b="b" t="t" l="l"/>
              <a:pathLst>
                <a:path h="2299940" w="4312504">
                  <a:moveTo>
                    <a:pt x="0" y="0"/>
                  </a:moveTo>
                  <a:lnTo>
                    <a:pt x="4312504" y="0"/>
                  </a:lnTo>
                  <a:lnTo>
                    <a:pt x="4312504" y="2299940"/>
                  </a:lnTo>
                  <a:lnTo>
                    <a:pt x="0" y="2299940"/>
                  </a:lnTo>
                  <a:close/>
                </a:path>
              </a:pathLst>
            </a:custGeom>
            <a:solidFill>
              <a:srgbClr val="F0F6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12504" cy="234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554247" y="1079145"/>
            <a:ext cx="11825984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307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ARQUIT</a:t>
            </a:r>
            <a:r>
              <a:rPr lang="en-US" sz="6999" spc="-307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ECTURA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6995" y="3247920"/>
            <a:ext cx="14985701" cy="502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 arquitectura de Spark se basa en un modelo maestro-trabajador (Master-Worker):</a:t>
            </a:r>
          </a:p>
          <a:p>
            <a:pPr algn="just">
              <a:lnSpc>
                <a:spcPts val="3990"/>
              </a:lnSpc>
            </a:pPr>
          </a:p>
          <a:p>
            <a:pPr algn="just" marL="647702" indent="-323851" lvl="1">
              <a:lnSpc>
                <a:spcPts val="39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Driver Program: coordina la ejecución de la aplicación Spark.</a:t>
            </a:r>
          </a:p>
          <a:p>
            <a:pPr algn="just" marL="647702" indent="-323851" lvl="1">
              <a:lnSpc>
                <a:spcPts val="39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Cluster Manager: administra los recursos del clúster (CPU, memoria, nodos).</a:t>
            </a:r>
          </a:p>
          <a:p>
            <a:pPr algn="just" marL="647702" indent="-323851" lvl="1">
              <a:lnSpc>
                <a:spcPts val="39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Executors: ejecutan las tareas distribuidas y almacenan los datos en memoria.</a:t>
            </a:r>
          </a:p>
          <a:p>
            <a:pPr algn="just">
              <a:lnSpc>
                <a:spcPts val="3990"/>
              </a:lnSpc>
            </a:pPr>
          </a:p>
          <a:p>
            <a:pPr algn="just">
              <a:lnSpc>
                <a:spcPts val="399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Este modelo permite que las tareas se distribuyan de forma eficiente entre los distintos nodos del clúster.</a:t>
            </a:r>
          </a:p>
          <a:p>
            <a:pPr algn="just" marL="0" indent="0" lvl="0">
              <a:lnSpc>
                <a:spcPts val="399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087019" y="8357076"/>
            <a:ext cx="3824759" cy="3859848"/>
          </a:xfrm>
          <a:custGeom>
            <a:avLst/>
            <a:gdLst/>
            <a:ahLst/>
            <a:cxnLst/>
            <a:rect r="r" b="b" t="t" l="l"/>
            <a:pathLst>
              <a:path h="3859848" w="3824759">
                <a:moveTo>
                  <a:pt x="0" y="0"/>
                </a:moveTo>
                <a:lnTo>
                  <a:pt x="3824759" y="0"/>
                </a:lnTo>
                <a:lnTo>
                  <a:pt x="3824759" y="3859848"/>
                </a:lnTo>
                <a:lnTo>
                  <a:pt x="0" y="3859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83208" y="-435239"/>
            <a:ext cx="3080752" cy="3103322"/>
          </a:xfrm>
          <a:custGeom>
            <a:avLst/>
            <a:gdLst/>
            <a:ahLst/>
            <a:cxnLst/>
            <a:rect r="r" b="b" t="t" l="l"/>
            <a:pathLst>
              <a:path h="3103322" w="3080752">
                <a:moveTo>
                  <a:pt x="0" y="0"/>
                </a:moveTo>
                <a:lnTo>
                  <a:pt x="3080752" y="0"/>
                </a:lnTo>
                <a:lnTo>
                  <a:pt x="3080752" y="3103321"/>
                </a:lnTo>
                <a:lnTo>
                  <a:pt x="0" y="3103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277974" y="-714114"/>
            <a:ext cx="6832222" cy="2832266"/>
          </a:xfrm>
          <a:custGeom>
            <a:avLst/>
            <a:gdLst/>
            <a:ahLst/>
            <a:cxnLst/>
            <a:rect r="r" b="b" t="t" l="l"/>
            <a:pathLst>
              <a:path h="2832266" w="6832222">
                <a:moveTo>
                  <a:pt x="0" y="0"/>
                </a:moveTo>
                <a:lnTo>
                  <a:pt x="6832221" y="0"/>
                </a:lnTo>
                <a:lnTo>
                  <a:pt x="6832221" y="2832267"/>
                </a:lnTo>
                <a:lnTo>
                  <a:pt x="0" y="283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06090" y="8039205"/>
            <a:ext cx="653210" cy="4082561"/>
          </a:xfrm>
          <a:custGeom>
            <a:avLst/>
            <a:gdLst/>
            <a:ahLst/>
            <a:cxnLst/>
            <a:rect r="r" b="b" t="t" l="l"/>
            <a:pathLst>
              <a:path h="4082561" w="653210">
                <a:moveTo>
                  <a:pt x="0" y="0"/>
                </a:moveTo>
                <a:lnTo>
                  <a:pt x="653210" y="0"/>
                </a:lnTo>
                <a:lnTo>
                  <a:pt x="653210" y="4082561"/>
                </a:lnTo>
                <a:lnTo>
                  <a:pt x="0" y="4082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96804" y="8039205"/>
            <a:ext cx="586404" cy="4082561"/>
          </a:xfrm>
          <a:custGeom>
            <a:avLst/>
            <a:gdLst/>
            <a:ahLst/>
            <a:cxnLst/>
            <a:rect r="r" b="b" t="t" l="l"/>
            <a:pathLst>
              <a:path h="4082561" w="586404">
                <a:moveTo>
                  <a:pt x="0" y="0"/>
                </a:moveTo>
                <a:lnTo>
                  <a:pt x="586404" y="0"/>
                </a:lnTo>
                <a:lnTo>
                  <a:pt x="586404" y="4082561"/>
                </a:lnTo>
                <a:lnTo>
                  <a:pt x="0" y="40825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-5860783" y="2668082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7501660" y="8875500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76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2461598" y="-60753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77208"/>
            <a:ext cx="16374040" cy="8732583"/>
            <a:chOff x="0" y="0"/>
            <a:chExt cx="4312504" cy="22999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2504" cy="2299940"/>
            </a:xfrm>
            <a:custGeom>
              <a:avLst/>
              <a:gdLst/>
              <a:ahLst/>
              <a:cxnLst/>
              <a:rect r="r" b="b" t="t" l="l"/>
              <a:pathLst>
                <a:path h="2299940" w="4312504">
                  <a:moveTo>
                    <a:pt x="0" y="0"/>
                  </a:moveTo>
                  <a:lnTo>
                    <a:pt x="4312504" y="0"/>
                  </a:lnTo>
                  <a:lnTo>
                    <a:pt x="4312504" y="2299940"/>
                  </a:lnTo>
                  <a:lnTo>
                    <a:pt x="0" y="2299940"/>
                  </a:lnTo>
                  <a:close/>
                </a:path>
              </a:pathLst>
            </a:custGeom>
            <a:solidFill>
              <a:srgbClr val="F0F6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12504" cy="234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554247" y="1079145"/>
            <a:ext cx="11825984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307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ARQUIT</a:t>
            </a:r>
            <a:r>
              <a:rPr lang="en-US" sz="6999" spc="-307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ECTURA GENERAL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087019" y="8357076"/>
            <a:ext cx="3824759" cy="3859848"/>
          </a:xfrm>
          <a:custGeom>
            <a:avLst/>
            <a:gdLst/>
            <a:ahLst/>
            <a:cxnLst/>
            <a:rect r="r" b="b" t="t" l="l"/>
            <a:pathLst>
              <a:path h="3859848" w="3824759">
                <a:moveTo>
                  <a:pt x="0" y="0"/>
                </a:moveTo>
                <a:lnTo>
                  <a:pt x="3824759" y="0"/>
                </a:lnTo>
                <a:lnTo>
                  <a:pt x="3824759" y="3859848"/>
                </a:lnTo>
                <a:lnTo>
                  <a:pt x="0" y="3859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83208" y="-435239"/>
            <a:ext cx="3080752" cy="3103322"/>
          </a:xfrm>
          <a:custGeom>
            <a:avLst/>
            <a:gdLst/>
            <a:ahLst/>
            <a:cxnLst/>
            <a:rect r="r" b="b" t="t" l="l"/>
            <a:pathLst>
              <a:path h="3103322" w="3080752">
                <a:moveTo>
                  <a:pt x="0" y="0"/>
                </a:moveTo>
                <a:lnTo>
                  <a:pt x="3080752" y="0"/>
                </a:lnTo>
                <a:lnTo>
                  <a:pt x="3080752" y="3103321"/>
                </a:lnTo>
                <a:lnTo>
                  <a:pt x="0" y="3103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77974" y="-714114"/>
            <a:ext cx="6832222" cy="2832266"/>
          </a:xfrm>
          <a:custGeom>
            <a:avLst/>
            <a:gdLst/>
            <a:ahLst/>
            <a:cxnLst/>
            <a:rect r="r" b="b" t="t" l="l"/>
            <a:pathLst>
              <a:path h="2832266" w="6832222">
                <a:moveTo>
                  <a:pt x="0" y="0"/>
                </a:moveTo>
                <a:lnTo>
                  <a:pt x="6832221" y="0"/>
                </a:lnTo>
                <a:lnTo>
                  <a:pt x="6832221" y="2832267"/>
                </a:lnTo>
                <a:lnTo>
                  <a:pt x="0" y="283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06090" y="8039205"/>
            <a:ext cx="653210" cy="4082561"/>
          </a:xfrm>
          <a:custGeom>
            <a:avLst/>
            <a:gdLst/>
            <a:ahLst/>
            <a:cxnLst/>
            <a:rect r="r" b="b" t="t" l="l"/>
            <a:pathLst>
              <a:path h="4082561" w="653210">
                <a:moveTo>
                  <a:pt x="0" y="0"/>
                </a:moveTo>
                <a:lnTo>
                  <a:pt x="653210" y="0"/>
                </a:lnTo>
                <a:lnTo>
                  <a:pt x="653210" y="4082561"/>
                </a:lnTo>
                <a:lnTo>
                  <a:pt x="0" y="4082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96804" y="8039205"/>
            <a:ext cx="586404" cy="4082561"/>
          </a:xfrm>
          <a:custGeom>
            <a:avLst/>
            <a:gdLst/>
            <a:ahLst/>
            <a:cxnLst/>
            <a:rect r="r" b="b" t="t" l="l"/>
            <a:pathLst>
              <a:path h="4082561" w="586404">
                <a:moveTo>
                  <a:pt x="0" y="0"/>
                </a:moveTo>
                <a:lnTo>
                  <a:pt x="586404" y="0"/>
                </a:lnTo>
                <a:lnTo>
                  <a:pt x="586404" y="4082561"/>
                </a:lnTo>
                <a:lnTo>
                  <a:pt x="0" y="40825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5860783" y="2668082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7501660" y="8875500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8288984" y="0"/>
                </a:moveTo>
                <a:lnTo>
                  <a:pt x="0" y="0"/>
                </a:lnTo>
                <a:lnTo>
                  <a:pt x="0" y="2178906"/>
                </a:lnTo>
                <a:lnTo>
                  <a:pt x="8288984" y="2178906"/>
                </a:lnTo>
                <a:lnTo>
                  <a:pt x="8288984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14995" y="3288945"/>
            <a:ext cx="12204554" cy="5856548"/>
          </a:xfrm>
          <a:custGeom>
            <a:avLst/>
            <a:gdLst/>
            <a:ahLst/>
            <a:cxnLst/>
            <a:rect r="r" b="b" t="t" l="l"/>
            <a:pathLst>
              <a:path h="5856548" w="12204554">
                <a:moveTo>
                  <a:pt x="0" y="0"/>
                </a:moveTo>
                <a:lnTo>
                  <a:pt x="12204554" y="0"/>
                </a:lnTo>
                <a:lnTo>
                  <a:pt x="12204554" y="5856548"/>
                </a:lnTo>
                <a:lnTo>
                  <a:pt x="0" y="585654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77720"/>
            <a:ext cx="5362575" cy="779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Rapidez: 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 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procesamiento en mem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oria y el programador de DAG de Spark permiten ejecutar cargas de trabajo más rápido que con Hadoop MapReduce, sobre todo en el caso de tareas iterativas. </a:t>
            </a:r>
          </a:p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Versatilidad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Los operadores generales de Spark simplifican el desarrollo de aplicaciones en paralelo soporta múltiples lenguajes (Scala, Python, Java, R, SQL).</a:t>
            </a:r>
          </a:p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Escalabilidad: ofrece escalabilidad horizontal, ya que procesa grandes cantidades de datos distribuyendo el trabajo entre los nodos del clúster.</a:t>
            </a:r>
          </a:p>
          <a:p>
            <a:pPr algn="just">
              <a:lnSpc>
                <a:spcPts val="307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7288480" y="3082094"/>
            <a:ext cx="3711040" cy="4809882"/>
            <a:chOff x="0" y="0"/>
            <a:chExt cx="4948053" cy="64131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48053" cy="4183354"/>
            </a:xfrm>
            <a:custGeom>
              <a:avLst/>
              <a:gdLst/>
              <a:ahLst/>
              <a:cxnLst/>
              <a:rect r="r" b="b" t="t" l="l"/>
              <a:pathLst>
                <a:path h="4183354" w="4948053">
                  <a:moveTo>
                    <a:pt x="0" y="0"/>
                  </a:moveTo>
                  <a:lnTo>
                    <a:pt x="4948053" y="0"/>
                  </a:lnTo>
                  <a:lnTo>
                    <a:pt x="4948053" y="4183354"/>
                  </a:lnTo>
                  <a:lnTo>
                    <a:pt x="0" y="4183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4774" y="4517194"/>
              <a:ext cx="4718505" cy="1895981"/>
            </a:xfrm>
            <a:custGeom>
              <a:avLst/>
              <a:gdLst/>
              <a:ahLst/>
              <a:cxnLst/>
              <a:rect r="r" b="b" t="t" l="l"/>
              <a:pathLst>
                <a:path h="1895981" w="4718505">
                  <a:moveTo>
                    <a:pt x="0" y="0"/>
                  </a:moveTo>
                  <a:lnTo>
                    <a:pt x="4718505" y="0"/>
                  </a:lnTo>
                  <a:lnTo>
                    <a:pt x="4718505" y="1895981"/>
                  </a:lnTo>
                  <a:lnTo>
                    <a:pt x="0" y="1895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-5603399" y="269749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5"/>
                </a:lnTo>
                <a:lnTo>
                  <a:pt x="0" y="2178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4879630" y="-1089453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4" y="0"/>
                </a:lnTo>
                <a:lnTo>
                  <a:pt x="8288984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89852" y="2477770"/>
            <a:ext cx="5369448" cy="623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Uso general: P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ermite usar una pila de bibliotecas que incluye SQL, DataFrame, MLlib para aprendizaje automático, GraphX y Spark Streaming. Además, puedes combinarlas sin problemas en la misma aplicación.</a:t>
            </a:r>
          </a:p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Innovación con el framework de código abierto: Spark aprovecha el potencial de las comunidades de software libre para innovar rápidamente y solucionar problemas, lo que se traduce en un desarrollo y un tiempo de lanzamiento más rápidos.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529" y="186791"/>
            <a:ext cx="9498942" cy="16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0"/>
              </a:lnSpc>
            </a:pPr>
            <a:r>
              <a:rPr lang="en-US" sz="9400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ventajas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805621" y="9197547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83110" y="-591889"/>
            <a:ext cx="5104890" cy="11470777"/>
            <a:chOff x="0" y="0"/>
            <a:chExt cx="1344498" cy="3021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4498" cy="3021110"/>
            </a:xfrm>
            <a:custGeom>
              <a:avLst/>
              <a:gdLst/>
              <a:ahLst/>
              <a:cxnLst/>
              <a:rect r="r" b="b" t="t" l="l"/>
              <a:pathLst>
                <a:path h="3021110" w="1344498">
                  <a:moveTo>
                    <a:pt x="0" y="0"/>
                  </a:moveTo>
                  <a:lnTo>
                    <a:pt x="1344498" y="0"/>
                  </a:lnTo>
                  <a:lnTo>
                    <a:pt x="1344498" y="3021110"/>
                  </a:lnTo>
                  <a:lnTo>
                    <a:pt x="0" y="3021110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44498" cy="3068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15098928" y="-845750"/>
            <a:ext cx="7130775" cy="1874450"/>
          </a:xfrm>
          <a:custGeom>
            <a:avLst/>
            <a:gdLst/>
            <a:ahLst/>
            <a:cxnLst/>
            <a:rect r="r" b="b" t="t" l="l"/>
            <a:pathLst>
              <a:path h="1874450" w="7130775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6425" y="2411559"/>
            <a:ext cx="10604019" cy="655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Spark C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ore: Es el núcleo del sistema, encargado de las operaciones básicas.  Administra la ejecución de tareas, la comunicación entre los nodos y la recuperación de fallos.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Spark puede almacenar información en memoria RAM, lo que mejora la velocidad frente a sistemas que solo leen desde disco, como Hadoop MapReduce.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Spark SQL: Permite trabajar con datos estructurados y semiestructurados mediante consultas SQL.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Introduce los DataFrames y Datasets, estructuras similares a tablas que facilitan la manipulación de datos.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Spark Streaming: Está diseñado para procesar flujos de datos en tiempo real.  Divide los datos entrantes en micro-lotes, lo que permite analizarlos casi al instante.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638292" y="3558731"/>
            <a:ext cx="4194526" cy="3169538"/>
          </a:xfrm>
          <a:custGeom>
            <a:avLst/>
            <a:gdLst/>
            <a:ahLst/>
            <a:cxnLst/>
            <a:rect r="r" b="b" t="t" l="l"/>
            <a:pathLst>
              <a:path h="3169538" w="4194526">
                <a:moveTo>
                  <a:pt x="0" y="0"/>
                </a:moveTo>
                <a:lnTo>
                  <a:pt x="4194526" y="0"/>
                </a:lnTo>
                <a:lnTo>
                  <a:pt x="4194526" y="3169538"/>
                </a:lnTo>
                <a:lnTo>
                  <a:pt x="0" y="3169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8872" y="467094"/>
            <a:ext cx="8800654" cy="176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3"/>
              </a:lnSpc>
            </a:pPr>
            <a:r>
              <a:rPr lang="en-US" sz="6055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CO</a:t>
            </a:r>
            <a:r>
              <a:rPr lang="en-US" sz="6055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MPONENTES PRINCIPALES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805621" y="8942007"/>
            <a:ext cx="8288984" cy="2178906"/>
          </a:xfrm>
          <a:custGeom>
            <a:avLst/>
            <a:gdLst/>
            <a:ahLst/>
            <a:cxnLst/>
            <a:rect r="r" b="b" t="t" l="l"/>
            <a:pathLst>
              <a:path h="2178906" w="8288984">
                <a:moveTo>
                  <a:pt x="0" y="0"/>
                </a:moveTo>
                <a:lnTo>
                  <a:pt x="8288985" y="0"/>
                </a:lnTo>
                <a:lnTo>
                  <a:pt x="8288985" y="2178906"/>
                </a:lnTo>
                <a:lnTo>
                  <a:pt x="0" y="217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591889"/>
            <a:ext cx="5095875" cy="11470777"/>
            <a:chOff x="0" y="0"/>
            <a:chExt cx="1342123" cy="3021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2124" cy="3021110"/>
            </a:xfrm>
            <a:custGeom>
              <a:avLst/>
              <a:gdLst/>
              <a:ahLst/>
              <a:cxnLst/>
              <a:rect r="r" b="b" t="t" l="l"/>
              <a:pathLst>
                <a:path h="3021110" w="1342124">
                  <a:moveTo>
                    <a:pt x="0" y="0"/>
                  </a:moveTo>
                  <a:lnTo>
                    <a:pt x="1342124" y="0"/>
                  </a:lnTo>
                  <a:lnTo>
                    <a:pt x="1342124" y="3021110"/>
                  </a:lnTo>
                  <a:lnTo>
                    <a:pt x="0" y="3021110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42123" cy="3068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-3689081" y="471961"/>
            <a:ext cx="7130775" cy="1874450"/>
          </a:xfrm>
          <a:custGeom>
            <a:avLst/>
            <a:gdLst/>
            <a:ahLst/>
            <a:cxnLst/>
            <a:rect r="r" b="b" t="t" l="l"/>
            <a:pathLst>
              <a:path h="1874450" w="7130775">
                <a:moveTo>
                  <a:pt x="0" y="0"/>
                </a:moveTo>
                <a:lnTo>
                  <a:pt x="7130775" y="0"/>
                </a:lnTo>
                <a:lnTo>
                  <a:pt x="7130775" y="1874450"/>
                </a:lnTo>
                <a:lnTo>
                  <a:pt x="0" y="187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10541" y="2812675"/>
            <a:ext cx="10748759" cy="668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</a:t>
            </a: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MLlib (Machine Learning Library): Es la biblioteca de aprendizaje automático de Spark. 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Incluye una amplia variedad de algoritmos y herramientas para clasificación, regresión, clustering, filtrado colaborativo y reducción de dimensiones.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También ofrece funciones para la preparación de datos, como normalización o extracción de características.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</a:t>
            </a: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GraphX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 el módulo orientado al análisis de grafos y redes.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Permite representar y analizar relaciones entre elementos, como conexiones en redes sociales, rutas de transporte o vínculos entre páginas web.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GraphX combina el modelo con las capacidades de los RDD, lo que permite ejecutar algoritmos como PageRank, detección de comunidades o búsqueda de rutas más cortas sobre datos masivos.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81353" y="3586809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8" y="0"/>
                </a:lnTo>
                <a:lnTo>
                  <a:pt x="41373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68354" y="457569"/>
            <a:ext cx="8800654" cy="188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3"/>
              </a:lnSpc>
            </a:pPr>
            <a:r>
              <a:rPr lang="en-US" sz="6455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CO</a:t>
            </a:r>
            <a:r>
              <a:rPr lang="en-US" sz="6455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MPONENTES PRINCIPALES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42129" y="398684"/>
            <a:ext cx="9563142" cy="129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40"/>
              </a:lnSpc>
            </a:pPr>
            <a:r>
              <a:rPr lang="en-US" sz="8000" spc="-992">
                <a:solidFill>
                  <a:srgbClr val="05061C"/>
                </a:solidFill>
                <a:latin typeface="Mokoto"/>
                <a:ea typeface="Mokoto"/>
                <a:cs typeface="Mokoto"/>
                <a:sym typeface="Mokoto"/>
              </a:rPr>
              <a:t>CASOS DE USO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530143" y="8582162"/>
            <a:ext cx="9453842" cy="3919047"/>
          </a:xfrm>
          <a:custGeom>
            <a:avLst/>
            <a:gdLst/>
            <a:ahLst/>
            <a:cxnLst/>
            <a:rect r="r" b="b" t="t" l="l"/>
            <a:pathLst>
              <a:path h="3919047" w="9453842">
                <a:moveTo>
                  <a:pt x="0" y="0"/>
                </a:moveTo>
                <a:lnTo>
                  <a:pt x="9453843" y="0"/>
                </a:lnTo>
                <a:lnTo>
                  <a:pt x="9453843" y="3919048"/>
                </a:lnTo>
                <a:lnTo>
                  <a:pt x="0" y="3919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8748829" y="2295437"/>
            <a:ext cx="956758" cy="5979735"/>
          </a:xfrm>
          <a:custGeom>
            <a:avLst/>
            <a:gdLst/>
            <a:ahLst/>
            <a:cxnLst/>
            <a:rect r="r" b="b" t="t" l="l"/>
            <a:pathLst>
              <a:path h="5979735" w="956758">
                <a:moveTo>
                  <a:pt x="0" y="0"/>
                </a:moveTo>
                <a:lnTo>
                  <a:pt x="956758" y="0"/>
                </a:lnTo>
                <a:lnTo>
                  <a:pt x="956758" y="5979736"/>
                </a:lnTo>
                <a:lnTo>
                  <a:pt x="0" y="5979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16554" y="0"/>
            <a:ext cx="4133590" cy="4133590"/>
          </a:xfrm>
          <a:custGeom>
            <a:avLst/>
            <a:gdLst/>
            <a:ahLst/>
            <a:cxnLst/>
            <a:rect r="r" b="b" t="t" l="l"/>
            <a:pathLst>
              <a:path h="4133590" w="4133590">
                <a:moveTo>
                  <a:pt x="0" y="0"/>
                </a:moveTo>
                <a:lnTo>
                  <a:pt x="4133591" y="0"/>
                </a:lnTo>
                <a:lnTo>
                  <a:pt x="4133591" y="4133590"/>
                </a:lnTo>
                <a:lnTo>
                  <a:pt x="0" y="4133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8797754" y="3969136"/>
            <a:ext cx="858907" cy="5979735"/>
          </a:xfrm>
          <a:custGeom>
            <a:avLst/>
            <a:gdLst/>
            <a:ahLst/>
            <a:cxnLst/>
            <a:rect r="r" b="b" t="t" l="l"/>
            <a:pathLst>
              <a:path h="5979735" w="858907">
                <a:moveTo>
                  <a:pt x="0" y="0"/>
                </a:moveTo>
                <a:lnTo>
                  <a:pt x="858907" y="0"/>
                </a:lnTo>
                <a:lnTo>
                  <a:pt x="858907" y="5979736"/>
                </a:lnTo>
                <a:lnTo>
                  <a:pt x="0" y="5979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16554" y="8582162"/>
            <a:ext cx="2487716" cy="5105388"/>
          </a:xfrm>
          <a:custGeom>
            <a:avLst/>
            <a:gdLst/>
            <a:ahLst/>
            <a:cxnLst/>
            <a:rect r="r" b="b" t="t" l="l"/>
            <a:pathLst>
              <a:path h="5105388" w="2487716">
                <a:moveTo>
                  <a:pt x="0" y="0"/>
                </a:moveTo>
                <a:lnTo>
                  <a:pt x="2487717" y="0"/>
                </a:lnTo>
                <a:lnTo>
                  <a:pt x="2487717" y="5105388"/>
                </a:lnTo>
                <a:lnTo>
                  <a:pt x="0" y="5105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42825" y="8447643"/>
            <a:ext cx="2633170" cy="3368008"/>
          </a:xfrm>
          <a:custGeom>
            <a:avLst/>
            <a:gdLst/>
            <a:ahLst/>
            <a:cxnLst/>
            <a:rect r="r" b="b" t="t" l="l"/>
            <a:pathLst>
              <a:path h="3368008" w="2633170">
                <a:moveTo>
                  <a:pt x="0" y="0"/>
                </a:moveTo>
                <a:lnTo>
                  <a:pt x="2633170" y="0"/>
                </a:lnTo>
                <a:lnTo>
                  <a:pt x="2633170" y="3368009"/>
                </a:lnTo>
                <a:lnTo>
                  <a:pt x="0" y="33680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92448" y="8509884"/>
            <a:ext cx="2608676" cy="3368008"/>
          </a:xfrm>
          <a:custGeom>
            <a:avLst/>
            <a:gdLst/>
            <a:ahLst/>
            <a:cxnLst/>
            <a:rect r="r" b="b" t="t" l="l"/>
            <a:pathLst>
              <a:path h="3368008" w="2608676">
                <a:moveTo>
                  <a:pt x="0" y="0"/>
                </a:moveTo>
                <a:lnTo>
                  <a:pt x="2608676" y="0"/>
                </a:lnTo>
                <a:lnTo>
                  <a:pt x="2608676" y="3368008"/>
                </a:lnTo>
                <a:lnTo>
                  <a:pt x="0" y="33680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3503" y="2399295"/>
            <a:ext cx="12995849" cy="568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5"/>
              </a:lnSpc>
            </a:pP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.1 Pr</a:t>
            </a: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ocesamiento de datos masivos: Spark se utiliza para limpiar, transformar y analizar grandes conjuntos de datos en empresas y centros de investigación.</a:t>
            </a:r>
          </a:p>
          <a:p>
            <a:pPr algn="just">
              <a:lnSpc>
                <a:spcPts val="4505"/>
              </a:lnSpc>
            </a:pPr>
          </a:p>
          <a:p>
            <a:pPr algn="just">
              <a:lnSpc>
                <a:spcPts val="4505"/>
              </a:lnSpc>
            </a:pP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2. Análisis en tiempo real: Con Spark Streaming, permite monitorear datos que llegan constantemente, como redes sociales o sensores IoT.</a:t>
            </a:r>
          </a:p>
          <a:p>
            <a:pPr algn="just">
              <a:lnSpc>
                <a:spcPts val="4505"/>
              </a:lnSpc>
            </a:pPr>
          </a:p>
          <a:p>
            <a:pPr algn="just">
              <a:lnSpc>
                <a:spcPts val="4505"/>
              </a:lnSpc>
            </a:pP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3. Machine Learning:  MLlib facilita la creación de modelos predictivos, detección de fraudes y recomendaciones personalizadas.</a:t>
            </a:r>
          </a:p>
          <a:p>
            <a:pPr algn="just">
              <a:lnSpc>
                <a:spcPts val="450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6945" y="507139"/>
            <a:ext cx="19114945" cy="2453716"/>
            <a:chOff x="0" y="0"/>
            <a:chExt cx="5034389" cy="6462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4389" cy="646246"/>
            </a:xfrm>
            <a:custGeom>
              <a:avLst/>
              <a:gdLst/>
              <a:ahLst/>
              <a:cxnLst/>
              <a:rect r="r" b="b" t="t" l="l"/>
              <a:pathLst>
                <a:path h="646246" w="5034389">
                  <a:moveTo>
                    <a:pt x="0" y="0"/>
                  </a:moveTo>
                  <a:lnTo>
                    <a:pt x="5034389" y="0"/>
                  </a:lnTo>
                  <a:lnTo>
                    <a:pt x="5034389" y="646246"/>
                  </a:lnTo>
                  <a:lnTo>
                    <a:pt x="0" y="646246"/>
                  </a:lnTo>
                  <a:close/>
                </a:path>
              </a:pathLst>
            </a:custGeom>
            <a:solidFill>
              <a:srgbClr val="4E76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34389" cy="693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1106" y="1033271"/>
            <a:ext cx="10719852" cy="131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8"/>
              </a:lnSpc>
            </a:pPr>
            <a:r>
              <a:rPr lang="en-US" sz="8090">
                <a:solidFill>
                  <a:srgbClr val="F0F6F5"/>
                </a:solidFill>
                <a:latin typeface="Mokoto"/>
                <a:ea typeface="Mokoto"/>
                <a:cs typeface="Mokoto"/>
                <a:sym typeface="Mokoto"/>
              </a:rPr>
              <a:t>CASOS DE USO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679145" y="507139"/>
            <a:ext cx="2966397" cy="4433474"/>
          </a:xfrm>
          <a:custGeom>
            <a:avLst/>
            <a:gdLst/>
            <a:ahLst/>
            <a:cxnLst/>
            <a:rect r="r" b="b" t="t" l="l"/>
            <a:pathLst>
              <a:path h="4433474" w="2966397">
                <a:moveTo>
                  <a:pt x="0" y="0"/>
                </a:moveTo>
                <a:lnTo>
                  <a:pt x="2966397" y="0"/>
                </a:lnTo>
                <a:lnTo>
                  <a:pt x="2966397" y="4433475"/>
                </a:lnTo>
                <a:lnTo>
                  <a:pt x="0" y="44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85739" y="6002695"/>
            <a:ext cx="6991948" cy="3394273"/>
          </a:xfrm>
          <a:custGeom>
            <a:avLst/>
            <a:gdLst/>
            <a:ahLst/>
            <a:cxnLst/>
            <a:rect r="r" b="b" t="t" l="l"/>
            <a:pathLst>
              <a:path h="3394273" w="6991948">
                <a:moveTo>
                  <a:pt x="0" y="0"/>
                </a:moveTo>
                <a:lnTo>
                  <a:pt x="6991948" y="0"/>
                </a:lnTo>
                <a:lnTo>
                  <a:pt x="6991948" y="3394273"/>
                </a:lnTo>
                <a:lnTo>
                  <a:pt x="0" y="3394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572005"/>
            <a:ext cx="11840600" cy="568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5"/>
              </a:lnSpc>
            </a:pP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4. Análi</a:t>
            </a: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sis de grafos: Con GraphX, Spark analiza redes de conexiones como relaciones de usuarios, rutas o comunidades.</a:t>
            </a:r>
          </a:p>
          <a:p>
            <a:pPr algn="just">
              <a:lnSpc>
                <a:spcPts val="4505"/>
              </a:lnSpc>
            </a:pPr>
          </a:p>
          <a:p>
            <a:pPr algn="just">
              <a:lnSpc>
                <a:spcPts val="4505"/>
              </a:lnSpc>
            </a:pP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5. Procesamiento de logs:  Se usa para analizar registros de servidores y detectar patrones o errores en tiempo real.</a:t>
            </a:r>
          </a:p>
          <a:p>
            <a:pPr algn="just">
              <a:lnSpc>
                <a:spcPts val="4505"/>
              </a:lnSpc>
            </a:pPr>
          </a:p>
          <a:p>
            <a:pPr algn="just">
              <a:lnSpc>
                <a:spcPts val="4505"/>
              </a:lnSpc>
            </a:pPr>
            <a:r>
              <a:rPr lang="en-US" sz="3003">
                <a:solidFill>
                  <a:srgbClr val="05061C"/>
                </a:solidFill>
                <a:latin typeface="Canva Sans"/>
                <a:ea typeface="Canva Sans"/>
                <a:cs typeface="Canva Sans"/>
                <a:sym typeface="Canva Sans"/>
              </a:rPr>
              <a:t>6. Integración con Big Data:  Spark se combina con HDFS, Cassandra o Amazon S3 para analizar información distribuida a gran escala.</a:t>
            </a:r>
          </a:p>
          <a:p>
            <a:pPr algn="just">
              <a:lnSpc>
                <a:spcPts val="450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0230" y="3121434"/>
            <a:ext cx="13389049" cy="402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02"/>
              </a:lnSpc>
            </a:pPr>
            <a:r>
              <a:rPr lang="en-US" sz="13168" spc="-697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MUCHAS 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802679" y="446691"/>
            <a:ext cx="10471816" cy="1523173"/>
          </a:xfrm>
          <a:custGeom>
            <a:avLst/>
            <a:gdLst/>
            <a:ahLst/>
            <a:cxnLst/>
            <a:rect r="r" b="b" t="t" l="l"/>
            <a:pathLst>
              <a:path h="1523173" w="10471816">
                <a:moveTo>
                  <a:pt x="0" y="0"/>
                </a:moveTo>
                <a:lnTo>
                  <a:pt x="10471817" y="0"/>
                </a:lnTo>
                <a:lnTo>
                  <a:pt x="10471817" y="1523173"/>
                </a:lnTo>
                <a:lnTo>
                  <a:pt x="0" y="152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88213" y="7868825"/>
            <a:ext cx="9453842" cy="3919047"/>
          </a:xfrm>
          <a:custGeom>
            <a:avLst/>
            <a:gdLst/>
            <a:ahLst/>
            <a:cxnLst/>
            <a:rect r="r" b="b" t="t" l="l"/>
            <a:pathLst>
              <a:path h="3919047" w="9453842">
                <a:moveTo>
                  <a:pt x="0" y="0"/>
                </a:moveTo>
                <a:lnTo>
                  <a:pt x="9453843" y="0"/>
                </a:lnTo>
                <a:lnTo>
                  <a:pt x="9453843" y="3919047"/>
                </a:lnTo>
                <a:lnTo>
                  <a:pt x="0" y="3919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40611" y="7734306"/>
            <a:ext cx="2487716" cy="5105388"/>
          </a:xfrm>
          <a:custGeom>
            <a:avLst/>
            <a:gdLst/>
            <a:ahLst/>
            <a:cxnLst/>
            <a:rect r="r" b="b" t="t" l="l"/>
            <a:pathLst>
              <a:path h="5105388" w="2487716">
                <a:moveTo>
                  <a:pt x="0" y="0"/>
                </a:moveTo>
                <a:lnTo>
                  <a:pt x="2487716" y="0"/>
                </a:lnTo>
                <a:lnTo>
                  <a:pt x="2487716" y="5105388"/>
                </a:lnTo>
                <a:lnTo>
                  <a:pt x="0" y="5105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84755" y="7734306"/>
            <a:ext cx="2633170" cy="3368008"/>
          </a:xfrm>
          <a:custGeom>
            <a:avLst/>
            <a:gdLst/>
            <a:ahLst/>
            <a:cxnLst/>
            <a:rect r="r" b="b" t="t" l="l"/>
            <a:pathLst>
              <a:path h="3368008" w="2633170">
                <a:moveTo>
                  <a:pt x="0" y="0"/>
                </a:moveTo>
                <a:lnTo>
                  <a:pt x="2633170" y="0"/>
                </a:lnTo>
                <a:lnTo>
                  <a:pt x="2633170" y="3368008"/>
                </a:lnTo>
                <a:lnTo>
                  <a:pt x="0" y="3368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12810" y="7868825"/>
            <a:ext cx="2608676" cy="3368008"/>
          </a:xfrm>
          <a:custGeom>
            <a:avLst/>
            <a:gdLst/>
            <a:ahLst/>
            <a:cxnLst/>
            <a:rect r="r" b="b" t="t" l="l"/>
            <a:pathLst>
              <a:path h="3368008" w="2608676">
                <a:moveTo>
                  <a:pt x="0" y="0"/>
                </a:moveTo>
                <a:lnTo>
                  <a:pt x="2608676" y="0"/>
                </a:lnTo>
                <a:lnTo>
                  <a:pt x="2608676" y="3368008"/>
                </a:lnTo>
                <a:lnTo>
                  <a:pt x="0" y="3368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17148" y="0"/>
            <a:ext cx="10471816" cy="1523173"/>
          </a:xfrm>
          <a:custGeom>
            <a:avLst/>
            <a:gdLst/>
            <a:ahLst/>
            <a:cxnLst/>
            <a:rect r="r" b="b" t="t" l="l"/>
            <a:pathLst>
              <a:path h="1523173" w="10471816">
                <a:moveTo>
                  <a:pt x="0" y="0"/>
                </a:moveTo>
                <a:lnTo>
                  <a:pt x="10471817" y="0"/>
                </a:lnTo>
                <a:lnTo>
                  <a:pt x="10471817" y="1523173"/>
                </a:lnTo>
                <a:lnTo>
                  <a:pt x="0" y="152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DAG26-REzFk</dc:identifier>
  <dcterms:modified xsi:type="dcterms:W3CDTF">2011-08-01T06:04:30Z</dcterms:modified>
  <cp:revision>1</cp:revision>
  <dc:title>ApacheSpark_ComponentesYCasosDeUso</dc:title>
</cp:coreProperties>
</file>