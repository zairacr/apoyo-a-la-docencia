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Glacial Indifference Bold" charset="1" panose="00000800000000000000"/>
      <p:regular r:id="rId17"/>
    </p:embeddedFont>
    <p:embeddedFont>
      <p:font typeface="Glacial Indifference" charset="1" panose="00000000000000000000"/>
      <p:regular r:id="rId18"/>
    </p:embeddedFont>
    <p:embeddedFont>
      <p:font typeface="Open Sans" charset="1" panose="020B060603050402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https://www.ibm.com/mx-es/topics/crm" TargetMode="External" Type="http://schemas.openxmlformats.org/officeDocument/2006/relationships/hyperlink"/><Relationship Id="rId5" Target="../media/image10.png" Type="http://schemas.openxmlformats.org/officeDocument/2006/relationships/image"/><Relationship Id="rId6" Target="../media/image1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ibm.com/mx-es/topics/predictive-maintenance" TargetMode="External" Type="http://schemas.openxmlformats.org/officeDocument/2006/relationships/hyperlink"/><Relationship Id="rId3" Target="../media/image10.png" Type="http://schemas.openxmlformats.org/officeDocument/2006/relationships/image"/><Relationship Id="rId4" Target="../media/image1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6982806">
            <a:off x="720300" y="6421716"/>
            <a:ext cx="8842272" cy="11861584"/>
          </a:xfrm>
          <a:custGeom>
            <a:avLst/>
            <a:gdLst/>
            <a:ahLst/>
            <a:cxnLst/>
            <a:rect r="r" b="b" t="t" l="l"/>
            <a:pathLst>
              <a:path h="11861584" w="8842272">
                <a:moveTo>
                  <a:pt x="0" y="0"/>
                </a:moveTo>
                <a:lnTo>
                  <a:pt x="8842272" y="0"/>
                </a:lnTo>
                <a:lnTo>
                  <a:pt x="8842272" y="11861584"/>
                </a:lnTo>
                <a:lnTo>
                  <a:pt x="0" y="11861584"/>
                </a:lnTo>
                <a:lnTo>
                  <a:pt x="0" y="0"/>
                </a:lnTo>
                <a:close/>
              </a:path>
            </a:pathLst>
          </a:custGeom>
          <a:blipFill>
            <a:blip r:embed="rId2">
              <a:alphaModFix amt="65999"/>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6501204">
            <a:off x="11046831" y="-5088864"/>
            <a:ext cx="8807178" cy="11814508"/>
          </a:xfrm>
          <a:custGeom>
            <a:avLst/>
            <a:gdLst/>
            <a:ahLst/>
            <a:cxnLst/>
            <a:rect r="r" b="b" t="t" l="l"/>
            <a:pathLst>
              <a:path h="11814508" w="8807178">
                <a:moveTo>
                  <a:pt x="0" y="0"/>
                </a:moveTo>
                <a:lnTo>
                  <a:pt x="8807178" y="0"/>
                </a:lnTo>
                <a:lnTo>
                  <a:pt x="8807178" y="11814507"/>
                </a:lnTo>
                <a:lnTo>
                  <a:pt x="0" y="11814507"/>
                </a:lnTo>
                <a:lnTo>
                  <a:pt x="0" y="0"/>
                </a:lnTo>
                <a:close/>
              </a:path>
            </a:pathLst>
          </a:custGeom>
          <a:blipFill>
            <a:blip r:embed="rId2">
              <a:alphaModFix amt="65999"/>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10571821">
            <a:off x="10628437" y="8363453"/>
            <a:ext cx="5947318" cy="7978109"/>
          </a:xfrm>
          <a:custGeom>
            <a:avLst/>
            <a:gdLst/>
            <a:ahLst/>
            <a:cxnLst/>
            <a:rect r="r" b="b" t="t" l="l"/>
            <a:pathLst>
              <a:path h="7978109" w="5947318">
                <a:moveTo>
                  <a:pt x="0" y="0"/>
                </a:moveTo>
                <a:lnTo>
                  <a:pt x="5947318" y="0"/>
                </a:lnTo>
                <a:lnTo>
                  <a:pt x="5947318" y="7978110"/>
                </a:lnTo>
                <a:lnTo>
                  <a:pt x="0" y="79781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5114765">
            <a:off x="11561828" y="5146485"/>
            <a:ext cx="8542938" cy="7393525"/>
          </a:xfrm>
          <a:custGeom>
            <a:avLst/>
            <a:gdLst/>
            <a:ahLst/>
            <a:cxnLst/>
            <a:rect r="r" b="b" t="t" l="l"/>
            <a:pathLst>
              <a:path h="7393525" w="8542938">
                <a:moveTo>
                  <a:pt x="0" y="0"/>
                </a:moveTo>
                <a:lnTo>
                  <a:pt x="8542938" y="0"/>
                </a:lnTo>
                <a:lnTo>
                  <a:pt x="8542938" y="7393525"/>
                </a:lnTo>
                <a:lnTo>
                  <a:pt x="0" y="73935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5058328">
            <a:off x="13255544" y="-4131370"/>
            <a:ext cx="7156478" cy="6935278"/>
          </a:xfrm>
          <a:custGeom>
            <a:avLst/>
            <a:gdLst/>
            <a:ahLst/>
            <a:cxnLst/>
            <a:rect r="r" b="b" t="t" l="l"/>
            <a:pathLst>
              <a:path h="6935278" w="7156478">
                <a:moveTo>
                  <a:pt x="0" y="0"/>
                </a:moveTo>
                <a:lnTo>
                  <a:pt x="7156479" y="0"/>
                </a:lnTo>
                <a:lnTo>
                  <a:pt x="7156479" y="6935279"/>
                </a:lnTo>
                <a:lnTo>
                  <a:pt x="0" y="69352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3318101">
            <a:off x="-3880130" y="6803731"/>
            <a:ext cx="10117864" cy="10062676"/>
          </a:xfrm>
          <a:custGeom>
            <a:avLst/>
            <a:gdLst/>
            <a:ahLst/>
            <a:cxnLst/>
            <a:rect r="r" b="b" t="t" l="l"/>
            <a:pathLst>
              <a:path h="10062676" w="10117864">
                <a:moveTo>
                  <a:pt x="0" y="0"/>
                </a:moveTo>
                <a:lnTo>
                  <a:pt x="10117864" y="0"/>
                </a:lnTo>
                <a:lnTo>
                  <a:pt x="10117864" y="10062675"/>
                </a:lnTo>
                <a:lnTo>
                  <a:pt x="0" y="100626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6800871">
            <a:off x="-1846725" y="-2878373"/>
            <a:ext cx="8542938" cy="7393525"/>
          </a:xfrm>
          <a:custGeom>
            <a:avLst/>
            <a:gdLst/>
            <a:ahLst/>
            <a:cxnLst/>
            <a:rect r="r" b="b" t="t" l="l"/>
            <a:pathLst>
              <a:path h="7393525" w="8542938">
                <a:moveTo>
                  <a:pt x="0" y="0"/>
                </a:moveTo>
                <a:lnTo>
                  <a:pt x="8542938" y="0"/>
                </a:lnTo>
                <a:lnTo>
                  <a:pt x="8542938" y="7393525"/>
                </a:lnTo>
                <a:lnTo>
                  <a:pt x="0" y="73935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9" id="9"/>
          <p:cNvSpPr txBox="true"/>
          <p:nvPr/>
        </p:nvSpPr>
        <p:spPr>
          <a:xfrm rot="0">
            <a:off x="4834951" y="2812342"/>
            <a:ext cx="8618097" cy="2040929"/>
          </a:xfrm>
          <a:prstGeom prst="rect">
            <a:avLst/>
          </a:prstGeom>
        </p:spPr>
        <p:txBody>
          <a:bodyPr anchor="t" rtlCol="false" tIns="0" lIns="0" bIns="0" rIns="0">
            <a:spAutoFit/>
          </a:bodyPr>
          <a:lstStyle/>
          <a:p>
            <a:pPr algn="ctr">
              <a:lnSpc>
                <a:spcPts val="16657"/>
              </a:lnSpc>
            </a:pPr>
            <a:r>
              <a:rPr lang="en-US" b="true" sz="11898" spc="1118">
                <a:solidFill>
                  <a:srgbClr val="152540"/>
                </a:solidFill>
                <a:latin typeface="Glacial Indifference Bold"/>
                <a:ea typeface="Glacial Indifference Bold"/>
                <a:cs typeface="Glacial Indifference Bold"/>
                <a:sym typeface="Glacial Indifference Bold"/>
              </a:rPr>
              <a:t>HDFS</a:t>
            </a:r>
          </a:p>
        </p:txBody>
      </p:sp>
      <p:sp>
        <p:nvSpPr>
          <p:cNvPr name="TextBox 10" id="10"/>
          <p:cNvSpPr txBox="true"/>
          <p:nvPr/>
        </p:nvSpPr>
        <p:spPr>
          <a:xfrm rot="0">
            <a:off x="2354540" y="4758022"/>
            <a:ext cx="13578920" cy="796396"/>
          </a:xfrm>
          <a:prstGeom prst="rect">
            <a:avLst/>
          </a:prstGeom>
        </p:spPr>
        <p:txBody>
          <a:bodyPr anchor="t" rtlCol="false" tIns="0" lIns="0" bIns="0" rIns="0">
            <a:spAutoFit/>
          </a:bodyPr>
          <a:lstStyle/>
          <a:p>
            <a:pPr algn="ctr" marL="0" indent="0" lvl="0">
              <a:lnSpc>
                <a:spcPts val="6504"/>
              </a:lnSpc>
              <a:spcBef>
                <a:spcPct val="0"/>
              </a:spcBef>
            </a:pPr>
            <a:r>
              <a:rPr lang="en-US" sz="4645" spc="436">
                <a:solidFill>
                  <a:srgbClr val="152540"/>
                </a:solidFill>
                <a:latin typeface="Glacial Indifference"/>
                <a:ea typeface="Glacial Indifference"/>
                <a:cs typeface="Glacial Indifference"/>
                <a:sym typeface="Glacial Indifference"/>
              </a:rPr>
              <a:t>Y EL MODELO DE </a:t>
            </a:r>
          </a:p>
        </p:txBody>
      </p:sp>
      <p:sp>
        <p:nvSpPr>
          <p:cNvPr name="TextBox 11" id="11"/>
          <p:cNvSpPr txBox="true"/>
          <p:nvPr/>
        </p:nvSpPr>
        <p:spPr>
          <a:xfrm rot="0">
            <a:off x="2424744" y="5634247"/>
            <a:ext cx="13578920" cy="1027537"/>
          </a:xfrm>
          <a:prstGeom prst="rect">
            <a:avLst/>
          </a:prstGeom>
        </p:spPr>
        <p:txBody>
          <a:bodyPr anchor="t" rtlCol="false" tIns="0" lIns="0" bIns="0" rIns="0">
            <a:spAutoFit/>
          </a:bodyPr>
          <a:lstStyle/>
          <a:p>
            <a:pPr algn="ctr" marL="0" indent="0" lvl="0">
              <a:lnSpc>
                <a:spcPts val="8464"/>
              </a:lnSpc>
              <a:spcBef>
                <a:spcPct val="0"/>
              </a:spcBef>
            </a:pPr>
            <a:r>
              <a:rPr lang="en-US" sz="6045" spc="568">
                <a:solidFill>
                  <a:srgbClr val="152540"/>
                </a:solidFill>
                <a:latin typeface="Glacial Indifference"/>
                <a:ea typeface="Glacial Indifference"/>
                <a:cs typeface="Glacial Indifference"/>
                <a:sym typeface="Glacial Indifference"/>
              </a:rPr>
              <a:t> ALMACENAMIENTO DISTRIBUIDO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6501204">
            <a:off x="-4899086" y="-8147683"/>
            <a:ext cx="9798172" cy="13143890"/>
          </a:xfrm>
          <a:custGeom>
            <a:avLst/>
            <a:gdLst/>
            <a:ahLst/>
            <a:cxnLst/>
            <a:rect r="r" b="b" t="t" l="l"/>
            <a:pathLst>
              <a:path h="13143890" w="9798172">
                <a:moveTo>
                  <a:pt x="0" y="0"/>
                </a:moveTo>
                <a:lnTo>
                  <a:pt x="9798172" y="0"/>
                </a:lnTo>
                <a:lnTo>
                  <a:pt x="9798172" y="13143889"/>
                </a:lnTo>
                <a:lnTo>
                  <a:pt x="0" y="13143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11434890" y="2417332"/>
            <a:ext cx="9798172" cy="13143890"/>
          </a:xfrm>
          <a:custGeom>
            <a:avLst/>
            <a:gdLst/>
            <a:ahLst/>
            <a:cxnLst/>
            <a:rect r="r" b="b" t="t" l="l"/>
            <a:pathLst>
              <a:path h="13143890" w="9798172">
                <a:moveTo>
                  <a:pt x="0" y="0"/>
                </a:moveTo>
                <a:lnTo>
                  <a:pt x="9798172" y="0"/>
                </a:lnTo>
                <a:lnTo>
                  <a:pt x="9798172"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10301337">
            <a:off x="9883234" y="-2150579"/>
            <a:ext cx="12901483" cy="11165647"/>
          </a:xfrm>
          <a:custGeom>
            <a:avLst/>
            <a:gdLst/>
            <a:ahLst/>
            <a:cxnLst/>
            <a:rect r="r" b="b" t="t" l="l"/>
            <a:pathLst>
              <a:path h="11165647" w="12901483">
                <a:moveTo>
                  <a:pt x="0" y="0"/>
                </a:moveTo>
                <a:lnTo>
                  <a:pt x="12901483" y="0"/>
                </a:lnTo>
                <a:lnTo>
                  <a:pt x="12901483" y="11165647"/>
                </a:lnTo>
                <a:lnTo>
                  <a:pt x="0" y="111656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458160">
            <a:off x="-3775194" y="6616870"/>
            <a:ext cx="8481393" cy="7340260"/>
          </a:xfrm>
          <a:custGeom>
            <a:avLst/>
            <a:gdLst/>
            <a:ahLst/>
            <a:cxnLst/>
            <a:rect r="r" b="b" t="t" l="l"/>
            <a:pathLst>
              <a:path h="7340260" w="8481393">
                <a:moveTo>
                  <a:pt x="0" y="0"/>
                </a:moveTo>
                <a:lnTo>
                  <a:pt x="8481393" y="0"/>
                </a:lnTo>
                <a:lnTo>
                  <a:pt x="8481393" y="7340260"/>
                </a:lnTo>
                <a:lnTo>
                  <a:pt x="0" y="73402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6" id="6"/>
          <p:cNvSpPr txBox="true"/>
          <p:nvPr/>
        </p:nvSpPr>
        <p:spPr>
          <a:xfrm rot="0">
            <a:off x="2344704" y="1943183"/>
            <a:ext cx="6411555" cy="1319860"/>
          </a:xfrm>
          <a:prstGeom prst="rect">
            <a:avLst/>
          </a:prstGeom>
        </p:spPr>
        <p:txBody>
          <a:bodyPr anchor="t" rtlCol="false" tIns="0" lIns="0" bIns="0" rIns="0">
            <a:spAutoFit/>
          </a:bodyPr>
          <a:lstStyle/>
          <a:p>
            <a:pPr algn="l">
              <a:lnSpc>
                <a:spcPts val="10726"/>
              </a:lnSpc>
            </a:pPr>
            <a:r>
              <a:rPr lang="en-US" b="true" sz="7662" spc="720">
                <a:solidFill>
                  <a:srgbClr val="152540"/>
                </a:solidFill>
                <a:latin typeface="Glacial Indifference Bold"/>
                <a:ea typeface="Glacial Indifference Bold"/>
                <a:cs typeface="Glacial Indifference Bold"/>
                <a:sym typeface="Glacial Indifference Bold"/>
              </a:rPr>
              <a:t>CONTENIDO</a:t>
            </a:r>
          </a:p>
        </p:txBody>
      </p:sp>
      <p:sp>
        <p:nvSpPr>
          <p:cNvPr name="TextBox 7" id="7"/>
          <p:cNvSpPr txBox="true"/>
          <p:nvPr/>
        </p:nvSpPr>
        <p:spPr>
          <a:xfrm rot="0">
            <a:off x="2344704" y="1115260"/>
            <a:ext cx="4756100" cy="980324"/>
          </a:xfrm>
          <a:prstGeom prst="rect">
            <a:avLst/>
          </a:prstGeom>
        </p:spPr>
        <p:txBody>
          <a:bodyPr anchor="t" rtlCol="false" tIns="0" lIns="0" bIns="0" rIns="0">
            <a:spAutoFit/>
          </a:bodyPr>
          <a:lstStyle/>
          <a:p>
            <a:pPr algn="l">
              <a:lnSpc>
                <a:spcPts val="7957"/>
              </a:lnSpc>
            </a:pPr>
            <a:r>
              <a:rPr lang="en-US" sz="5683" spc="534">
                <a:solidFill>
                  <a:srgbClr val="152540"/>
                </a:solidFill>
                <a:latin typeface="Glacial Indifference"/>
                <a:ea typeface="Glacial Indifference"/>
                <a:cs typeface="Glacial Indifference"/>
                <a:sym typeface="Glacial Indifference"/>
              </a:rPr>
              <a:t>TABLA DE</a:t>
            </a:r>
          </a:p>
        </p:txBody>
      </p:sp>
      <p:sp>
        <p:nvSpPr>
          <p:cNvPr name="TextBox 8" id="8"/>
          <p:cNvSpPr txBox="true"/>
          <p:nvPr/>
        </p:nvSpPr>
        <p:spPr>
          <a:xfrm rot="0">
            <a:off x="2344704" y="3590866"/>
            <a:ext cx="6411555" cy="4865765"/>
          </a:xfrm>
          <a:prstGeom prst="rect">
            <a:avLst/>
          </a:prstGeom>
        </p:spPr>
        <p:txBody>
          <a:bodyPr anchor="t" rtlCol="false" tIns="0" lIns="0" bIns="0" rIns="0">
            <a:spAutoFit/>
          </a:bodyPr>
          <a:lstStyle/>
          <a:p>
            <a:pPr algn="l" marL="741495" indent="-370748" lvl="1">
              <a:lnSpc>
                <a:spcPts val="4808"/>
              </a:lnSpc>
              <a:buFont typeface="Arial"/>
              <a:buChar char="•"/>
            </a:pPr>
            <a:r>
              <a:rPr lang="en-US" sz="3434" spc="75" strike="noStrike" u="none">
                <a:solidFill>
                  <a:srgbClr val="152540"/>
                </a:solidFill>
                <a:latin typeface="Glacial Indifference"/>
                <a:ea typeface="Glacial Indifference"/>
                <a:cs typeface="Glacial Indifference"/>
                <a:sym typeface="Glacial Indifference"/>
              </a:rPr>
              <a:t>Introducción</a:t>
            </a:r>
          </a:p>
          <a:p>
            <a:pPr algn="l" marL="741495" indent="-370748" lvl="1">
              <a:lnSpc>
                <a:spcPts val="4808"/>
              </a:lnSpc>
              <a:buFont typeface="Arial"/>
              <a:buChar char="•"/>
            </a:pPr>
            <a:r>
              <a:rPr lang="en-US" sz="3434" spc="75" strike="noStrike" u="none">
                <a:solidFill>
                  <a:srgbClr val="152540"/>
                </a:solidFill>
                <a:latin typeface="Glacial Indifference"/>
                <a:ea typeface="Glacial Indifference"/>
                <a:cs typeface="Glacial Indifference"/>
                <a:sym typeface="Glacial Indifference"/>
              </a:rPr>
              <a:t>Arquitectura HDFS</a:t>
            </a:r>
          </a:p>
          <a:p>
            <a:pPr algn="l" marL="741495" indent="-370748" lvl="1">
              <a:lnSpc>
                <a:spcPts val="4808"/>
              </a:lnSpc>
              <a:buFont typeface="Arial"/>
              <a:buChar char="•"/>
            </a:pPr>
            <a:r>
              <a:rPr lang="en-US" sz="3434" spc="75" strike="noStrike" u="none">
                <a:solidFill>
                  <a:srgbClr val="152540"/>
                </a:solidFill>
                <a:latin typeface="Glacial Indifference"/>
                <a:ea typeface="Glacial Indifference"/>
                <a:cs typeface="Glacial Indifference"/>
                <a:sym typeface="Glacial Indifference"/>
              </a:rPr>
              <a:t>NameNode</a:t>
            </a:r>
          </a:p>
          <a:p>
            <a:pPr algn="l" marL="741495" indent="-370748" lvl="1">
              <a:lnSpc>
                <a:spcPts val="4808"/>
              </a:lnSpc>
              <a:buFont typeface="Arial"/>
              <a:buChar char="•"/>
            </a:pPr>
            <a:r>
              <a:rPr lang="en-US" sz="3434" spc="75" strike="noStrike" u="none">
                <a:solidFill>
                  <a:srgbClr val="152540"/>
                </a:solidFill>
                <a:latin typeface="Glacial Indifference"/>
                <a:ea typeface="Glacial Indifference"/>
                <a:cs typeface="Glacial Indifference"/>
                <a:sym typeface="Glacial Indifference"/>
              </a:rPr>
              <a:t>DataNode</a:t>
            </a:r>
          </a:p>
          <a:p>
            <a:pPr algn="l" marL="741495" indent="-370748" lvl="1">
              <a:lnSpc>
                <a:spcPts val="4808"/>
              </a:lnSpc>
              <a:buFont typeface="Arial"/>
              <a:buChar char="•"/>
            </a:pPr>
            <a:r>
              <a:rPr lang="en-US" sz="3434" spc="75" strike="noStrike" u="none">
                <a:solidFill>
                  <a:srgbClr val="152540"/>
                </a:solidFill>
                <a:latin typeface="Glacial Indifference"/>
                <a:ea typeface="Glacial Indifference"/>
                <a:cs typeface="Glacial Indifference"/>
                <a:sym typeface="Glacial Indifference"/>
              </a:rPr>
              <a:t>DataReplication</a:t>
            </a:r>
          </a:p>
          <a:p>
            <a:pPr algn="l" marL="741495" indent="-370748" lvl="1">
              <a:lnSpc>
                <a:spcPts val="4808"/>
              </a:lnSpc>
              <a:buFont typeface="Arial"/>
              <a:buChar char="•"/>
            </a:pPr>
            <a:r>
              <a:rPr lang="en-US" sz="3434" spc="75" strike="noStrike" u="none">
                <a:solidFill>
                  <a:srgbClr val="152540"/>
                </a:solidFill>
                <a:latin typeface="Glacial Indifference"/>
                <a:ea typeface="Glacial Indifference"/>
                <a:cs typeface="Glacial Indifference"/>
                <a:sym typeface="Glacial Indifference"/>
              </a:rPr>
              <a:t>Modelo de Almacenamiento</a:t>
            </a:r>
          </a:p>
          <a:p>
            <a:pPr algn="l" marL="741495" indent="-370748" lvl="1">
              <a:lnSpc>
                <a:spcPts val="4808"/>
              </a:lnSpc>
              <a:buFont typeface="Arial"/>
              <a:buChar char="•"/>
            </a:pPr>
            <a:r>
              <a:rPr lang="en-US" sz="3434" spc="75" strike="noStrike" u="none">
                <a:solidFill>
                  <a:srgbClr val="152540"/>
                </a:solidFill>
                <a:latin typeface="Glacial Indifference"/>
                <a:ea typeface="Glacial Indifference"/>
                <a:cs typeface="Glacial Indifference"/>
                <a:sym typeface="Glacial Indifference"/>
              </a:rPr>
              <a:t>Ventajas</a:t>
            </a:r>
          </a:p>
          <a:p>
            <a:pPr algn="l" marL="741495" indent="-370748" lvl="1">
              <a:lnSpc>
                <a:spcPts val="4808"/>
              </a:lnSpc>
              <a:buFont typeface="Arial"/>
              <a:buChar char="•"/>
            </a:pPr>
            <a:r>
              <a:rPr lang="en-US" sz="3434" spc="75" strike="noStrike" u="none">
                <a:solidFill>
                  <a:srgbClr val="152540"/>
                </a:solidFill>
                <a:latin typeface="Glacial Indifference"/>
                <a:ea typeface="Glacial Indifference"/>
                <a:cs typeface="Glacial Indifference"/>
                <a:sym typeface="Glacial Indifference"/>
              </a:rPr>
              <a:t>Casos de uso</a:t>
            </a:r>
          </a:p>
        </p:txBody>
      </p:sp>
      <p:sp>
        <p:nvSpPr>
          <p:cNvPr name="TextBox 9" id="9"/>
          <p:cNvSpPr txBox="true"/>
          <p:nvPr/>
        </p:nvSpPr>
        <p:spPr>
          <a:xfrm rot="0">
            <a:off x="9597423" y="3614932"/>
            <a:ext cx="813952" cy="4865765"/>
          </a:xfrm>
          <a:prstGeom prst="rect">
            <a:avLst/>
          </a:prstGeom>
        </p:spPr>
        <p:txBody>
          <a:bodyPr anchor="t" rtlCol="false" tIns="0" lIns="0" bIns="0" rIns="0">
            <a:spAutoFit/>
          </a:bodyPr>
          <a:lstStyle/>
          <a:p>
            <a:pPr algn="ctr">
              <a:lnSpc>
                <a:spcPts val="4808"/>
              </a:lnSpc>
            </a:pPr>
            <a:r>
              <a:rPr lang="en-US" b="true" sz="3434" spc="75">
                <a:solidFill>
                  <a:srgbClr val="152540"/>
                </a:solidFill>
                <a:latin typeface="Glacial Indifference Bold"/>
                <a:ea typeface="Glacial Indifference Bold"/>
                <a:cs typeface="Glacial Indifference Bold"/>
                <a:sym typeface="Glacial Indifference Bold"/>
              </a:rPr>
              <a:t>03</a:t>
            </a:r>
          </a:p>
          <a:p>
            <a:pPr algn="ctr">
              <a:lnSpc>
                <a:spcPts val="4808"/>
              </a:lnSpc>
            </a:pPr>
            <a:r>
              <a:rPr lang="en-US" b="true" sz="3434" spc="75">
                <a:solidFill>
                  <a:srgbClr val="152540"/>
                </a:solidFill>
                <a:latin typeface="Glacial Indifference Bold"/>
                <a:ea typeface="Glacial Indifference Bold"/>
                <a:cs typeface="Glacial Indifference Bold"/>
                <a:sym typeface="Glacial Indifference Bold"/>
              </a:rPr>
              <a:t>04</a:t>
            </a:r>
          </a:p>
          <a:p>
            <a:pPr algn="ctr">
              <a:lnSpc>
                <a:spcPts val="4808"/>
              </a:lnSpc>
            </a:pPr>
            <a:r>
              <a:rPr lang="en-US" b="true" sz="3434" spc="75">
                <a:solidFill>
                  <a:srgbClr val="152540"/>
                </a:solidFill>
                <a:latin typeface="Glacial Indifference Bold"/>
                <a:ea typeface="Glacial Indifference Bold"/>
                <a:cs typeface="Glacial Indifference Bold"/>
                <a:sym typeface="Glacial Indifference Bold"/>
              </a:rPr>
              <a:t>05</a:t>
            </a:r>
          </a:p>
          <a:p>
            <a:pPr algn="ctr">
              <a:lnSpc>
                <a:spcPts val="4808"/>
              </a:lnSpc>
            </a:pPr>
            <a:r>
              <a:rPr lang="en-US" b="true" sz="3434" spc="75">
                <a:solidFill>
                  <a:srgbClr val="152540"/>
                </a:solidFill>
                <a:latin typeface="Glacial Indifference Bold"/>
                <a:ea typeface="Glacial Indifference Bold"/>
                <a:cs typeface="Glacial Indifference Bold"/>
                <a:sym typeface="Glacial Indifference Bold"/>
              </a:rPr>
              <a:t>06</a:t>
            </a:r>
          </a:p>
          <a:p>
            <a:pPr algn="ctr">
              <a:lnSpc>
                <a:spcPts val="4808"/>
              </a:lnSpc>
            </a:pPr>
            <a:r>
              <a:rPr lang="en-US" b="true" sz="3434" spc="75">
                <a:solidFill>
                  <a:srgbClr val="152540"/>
                </a:solidFill>
                <a:latin typeface="Glacial Indifference Bold"/>
                <a:ea typeface="Glacial Indifference Bold"/>
                <a:cs typeface="Glacial Indifference Bold"/>
                <a:sym typeface="Glacial Indifference Bold"/>
              </a:rPr>
              <a:t>07</a:t>
            </a:r>
          </a:p>
          <a:p>
            <a:pPr algn="ctr">
              <a:lnSpc>
                <a:spcPts val="4808"/>
              </a:lnSpc>
            </a:pPr>
            <a:r>
              <a:rPr lang="en-US" b="true" sz="3434" spc="75">
                <a:solidFill>
                  <a:srgbClr val="152540"/>
                </a:solidFill>
                <a:latin typeface="Glacial Indifference Bold"/>
                <a:ea typeface="Glacial Indifference Bold"/>
                <a:cs typeface="Glacial Indifference Bold"/>
                <a:sym typeface="Glacial Indifference Bold"/>
              </a:rPr>
              <a:t>08</a:t>
            </a:r>
          </a:p>
          <a:p>
            <a:pPr algn="ctr">
              <a:lnSpc>
                <a:spcPts val="4808"/>
              </a:lnSpc>
            </a:pPr>
            <a:r>
              <a:rPr lang="en-US" b="true" sz="3434" spc="75">
                <a:solidFill>
                  <a:srgbClr val="152540"/>
                </a:solidFill>
                <a:latin typeface="Glacial Indifference Bold"/>
                <a:ea typeface="Glacial Indifference Bold"/>
                <a:cs typeface="Glacial Indifference Bold"/>
                <a:sym typeface="Glacial Indifference Bold"/>
              </a:rPr>
              <a:t>09</a:t>
            </a:r>
          </a:p>
          <a:p>
            <a:pPr algn="ctr" marL="0" indent="0" lvl="0">
              <a:lnSpc>
                <a:spcPts val="4808"/>
              </a:lnSpc>
              <a:spcBef>
                <a:spcPct val="0"/>
              </a:spcBef>
            </a:pPr>
            <a:r>
              <a:rPr lang="en-US" b="true" sz="3434" spc="75">
                <a:solidFill>
                  <a:srgbClr val="152540"/>
                </a:solidFill>
                <a:latin typeface="Glacial Indifference Bold"/>
                <a:ea typeface="Glacial Indifference Bold"/>
                <a:cs typeface="Glacial Indifference Bold"/>
                <a:sym typeface="Glacial Indifference Bold"/>
              </a:rPr>
              <a:t>10</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2770156">
            <a:off x="15710816" y="8522875"/>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13832963" y="3687034"/>
            <a:ext cx="4785324" cy="2954938"/>
          </a:xfrm>
          <a:custGeom>
            <a:avLst/>
            <a:gdLst/>
            <a:ahLst/>
            <a:cxnLst/>
            <a:rect r="r" b="b" t="t" l="l"/>
            <a:pathLst>
              <a:path h="2954938" w="4785324">
                <a:moveTo>
                  <a:pt x="0" y="0"/>
                </a:moveTo>
                <a:lnTo>
                  <a:pt x="4785324" y="0"/>
                </a:lnTo>
                <a:lnTo>
                  <a:pt x="4785324" y="2954937"/>
                </a:lnTo>
                <a:lnTo>
                  <a:pt x="0" y="2954937"/>
                </a:lnTo>
                <a:lnTo>
                  <a:pt x="0" y="0"/>
                </a:lnTo>
                <a:close/>
              </a:path>
            </a:pathLst>
          </a:custGeom>
          <a:blipFill>
            <a:blip r:embed="rId6"/>
            <a:stretch>
              <a:fillRect l="0" t="0" r="0" b="0"/>
            </a:stretch>
          </a:blipFill>
        </p:spPr>
      </p:sp>
      <p:sp>
        <p:nvSpPr>
          <p:cNvPr name="TextBox 7" id="7"/>
          <p:cNvSpPr txBox="true"/>
          <p:nvPr/>
        </p:nvSpPr>
        <p:spPr>
          <a:xfrm rot="0">
            <a:off x="1853128" y="923925"/>
            <a:ext cx="6460548" cy="966389"/>
          </a:xfrm>
          <a:prstGeom prst="rect">
            <a:avLst/>
          </a:prstGeom>
        </p:spPr>
        <p:txBody>
          <a:bodyPr anchor="t" rtlCol="false" tIns="0" lIns="0" bIns="0" rIns="0">
            <a:spAutoFit/>
          </a:bodyPr>
          <a:lstStyle/>
          <a:p>
            <a:pPr algn="l">
              <a:lnSpc>
                <a:spcPts val="7961"/>
              </a:lnSpc>
            </a:pPr>
            <a:r>
              <a:rPr lang="en-US" sz="5686" spc="534">
                <a:solidFill>
                  <a:srgbClr val="152540"/>
                </a:solidFill>
                <a:latin typeface="Glacial Indifference"/>
                <a:ea typeface="Glacial Indifference"/>
                <a:cs typeface="Glacial Indifference"/>
                <a:sym typeface="Glacial Indifference"/>
              </a:rPr>
              <a:t>INTRODUCCIÓN</a:t>
            </a:r>
          </a:p>
        </p:txBody>
      </p:sp>
      <p:sp>
        <p:nvSpPr>
          <p:cNvPr name="TextBox 8" id="8"/>
          <p:cNvSpPr txBox="true"/>
          <p:nvPr/>
        </p:nvSpPr>
        <p:spPr>
          <a:xfrm rot="0">
            <a:off x="1920304" y="6380717"/>
            <a:ext cx="12571500" cy="2076451"/>
          </a:xfrm>
          <a:prstGeom prst="rect">
            <a:avLst/>
          </a:prstGeom>
        </p:spPr>
        <p:txBody>
          <a:bodyPr anchor="t" rtlCol="false" tIns="0" lIns="0" bIns="0" rIns="0">
            <a:spAutoFit/>
          </a:bodyPr>
          <a:lstStyle/>
          <a:p>
            <a:pPr algn="just">
              <a:lnSpc>
                <a:spcPts val="4199"/>
              </a:lnSpc>
            </a:pPr>
            <a:r>
              <a:rPr lang="en-US" sz="2999" spc="65">
                <a:solidFill>
                  <a:srgbClr val="152540"/>
                </a:solidFill>
                <a:latin typeface="Glacial Indifference"/>
                <a:ea typeface="Glacial Indifference"/>
                <a:cs typeface="Glacial Indifference"/>
                <a:sym typeface="Glacial Indifference"/>
              </a:rPr>
              <a:t>Hado</a:t>
            </a:r>
            <a:r>
              <a:rPr lang="en-US" sz="2999" spc="65" strike="noStrike" u="none">
                <a:solidFill>
                  <a:srgbClr val="152540"/>
                </a:solidFill>
                <a:latin typeface="Glacial Indifference"/>
                <a:ea typeface="Glacial Indifference"/>
                <a:cs typeface="Glacial Indifference"/>
                <a:sym typeface="Glacial Indifference"/>
              </a:rPr>
              <a:t>op Distributed File System (HDFS) es un sistema de archivos de codigo que gestiona grandes conjuntos de datos que pueden ejecutarse en hardware básico. </a:t>
            </a:r>
          </a:p>
          <a:p>
            <a:pPr algn="just">
              <a:lnSpc>
                <a:spcPts val="4199"/>
              </a:lnSpc>
            </a:pPr>
            <a:r>
              <a:rPr lang="en-US" sz="2999" spc="65" strike="noStrike" u="none">
                <a:solidFill>
                  <a:srgbClr val="152540"/>
                </a:solidFill>
                <a:latin typeface="Glacial Indifference"/>
                <a:ea typeface="Glacial Indifference"/>
                <a:cs typeface="Glacial Indifference"/>
                <a:sym typeface="Glacial Indifference"/>
              </a:rPr>
              <a:t>E</a:t>
            </a:r>
            <a:r>
              <a:rPr lang="en-US" sz="2999" spc="65" strike="noStrike" u="none">
                <a:solidFill>
                  <a:srgbClr val="152540"/>
                </a:solidFill>
                <a:latin typeface="Glacial Indifference"/>
                <a:ea typeface="Glacial Indifference"/>
                <a:cs typeface="Glacial Indifference"/>
                <a:sym typeface="Glacial Indifference"/>
              </a:rPr>
              <a:t>s el sistema de almacenamiento de datos más popular para Hadoop </a:t>
            </a:r>
          </a:p>
        </p:txBody>
      </p:sp>
      <p:sp>
        <p:nvSpPr>
          <p:cNvPr name="TextBox 9" id="9"/>
          <p:cNvSpPr txBox="true"/>
          <p:nvPr/>
        </p:nvSpPr>
        <p:spPr>
          <a:xfrm rot="0">
            <a:off x="1853128" y="4798641"/>
            <a:ext cx="8324690" cy="1259324"/>
          </a:xfrm>
          <a:prstGeom prst="rect">
            <a:avLst/>
          </a:prstGeom>
        </p:spPr>
        <p:txBody>
          <a:bodyPr anchor="t" rtlCol="false" tIns="0" lIns="0" bIns="0" rIns="0">
            <a:spAutoFit/>
          </a:bodyPr>
          <a:lstStyle/>
          <a:p>
            <a:pPr algn="l">
              <a:lnSpc>
                <a:spcPts val="10258"/>
              </a:lnSpc>
            </a:pPr>
            <a:r>
              <a:rPr lang="en-US" b="true" sz="7327" spc="688">
                <a:solidFill>
                  <a:srgbClr val="152540"/>
                </a:solidFill>
                <a:latin typeface="Glacial Indifference Bold"/>
                <a:ea typeface="Glacial Indifference Bold"/>
                <a:cs typeface="Glacial Indifference Bold"/>
                <a:sym typeface="Glacial Indifference Bold"/>
              </a:rPr>
              <a:t>QUE ES HDFS?</a:t>
            </a:r>
          </a:p>
        </p:txBody>
      </p:sp>
      <p:sp>
        <p:nvSpPr>
          <p:cNvPr name="TextBox 10" id="10"/>
          <p:cNvSpPr txBox="true"/>
          <p:nvPr/>
        </p:nvSpPr>
        <p:spPr>
          <a:xfrm rot="0">
            <a:off x="1853128" y="2148063"/>
            <a:ext cx="12571500" cy="2076451"/>
          </a:xfrm>
          <a:prstGeom prst="rect">
            <a:avLst/>
          </a:prstGeom>
        </p:spPr>
        <p:txBody>
          <a:bodyPr anchor="t" rtlCol="false" tIns="0" lIns="0" bIns="0" rIns="0">
            <a:spAutoFit/>
          </a:bodyPr>
          <a:lstStyle/>
          <a:p>
            <a:pPr algn="just">
              <a:lnSpc>
                <a:spcPts val="4199"/>
              </a:lnSpc>
            </a:pPr>
            <a:r>
              <a:rPr lang="en-US" sz="2999" spc="65">
                <a:solidFill>
                  <a:srgbClr val="152540"/>
                </a:solidFill>
                <a:latin typeface="Glacial Indifference"/>
                <a:ea typeface="Glacial Indifference"/>
                <a:cs typeface="Glacial Indifference"/>
                <a:sym typeface="Glacial Indifference"/>
              </a:rPr>
              <a:t>Un sistema de archivos distribuido permite almacenar y acceder a datos desde múltiples computadoras conectadas en red.</a:t>
            </a:r>
          </a:p>
          <a:p>
            <a:pPr algn="just">
              <a:lnSpc>
                <a:spcPts val="4199"/>
              </a:lnSpc>
            </a:pPr>
            <a:r>
              <a:rPr lang="en-US" sz="2999" spc="65">
                <a:solidFill>
                  <a:srgbClr val="152540"/>
                </a:solidFill>
                <a:latin typeface="Glacial Indifference"/>
                <a:ea typeface="Glacial Indifference"/>
                <a:cs typeface="Glacial Indifference"/>
                <a:sym typeface="Glacial Indifference"/>
              </a:rPr>
              <a:t>Es fundamental en entornos de Big Data, donde los volúmenes de información superan la capacidad de una sola máquina.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grpSp>
        <p:nvGrpSpPr>
          <p:cNvPr name="Group 2" id="2"/>
          <p:cNvGrpSpPr/>
          <p:nvPr/>
        </p:nvGrpSpPr>
        <p:grpSpPr>
          <a:xfrm rot="0">
            <a:off x="1028700" y="3486089"/>
            <a:ext cx="5141050" cy="2485004"/>
            <a:chOff x="0" y="0"/>
            <a:chExt cx="812800" cy="392879"/>
          </a:xfrm>
        </p:grpSpPr>
        <p:sp>
          <p:nvSpPr>
            <p:cNvPr name="Freeform 3" id="3"/>
            <p:cNvSpPr/>
            <p:nvPr/>
          </p:nvSpPr>
          <p:spPr>
            <a:xfrm flipH="false" flipV="false" rot="0">
              <a:off x="0" y="0"/>
              <a:ext cx="812800" cy="392879"/>
            </a:xfrm>
            <a:custGeom>
              <a:avLst/>
              <a:gdLst/>
              <a:ahLst/>
              <a:cxnLst/>
              <a:rect r="r" b="b" t="t" l="l"/>
              <a:pathLst>
                <a:path h="392879" w="812800">
                  <a:moveTo>
                    <a:pt x="39153" y="0"/>
                  </a:moveTo>
                  <a:lnTo>
                    <a:pt x="773647" y="0"/>
                  </a:lnTo>
                  <a:cubicBezTo>
                    <a:pt x="784031" y="0"/>
                    <a:pt x="793990" y="4125"/>
                    <a:pt x="801332" y="11468"/>
                  </a:cubicBezTo>
                  <a:cubicBezTo>
                    <a:pt x="808675" y="18810"/>
                    <a:pt x="812800" y="28769"/>
                    <a:pt x="812800" y="39153"/>
                  </a:cubicBezTo>
                  <a:lnTo>
                    <a:pt x="812800" y="353726"/>
                  </a:lnTo>
                  <a:cubicBezTo>
                    <a:pt x="812800" y="364110"/>
                    <a:pt x="808675" y="374069"/>
                    <a:pt x="801332" y="381411"/>
                  </a:cubicBezTo>
                  <a:cubicBezTo>
                    <a:pt x="793990" y="388754"/>
                    <a:pt x="784031" y="392879"/>
                    <a:pt x="773647" y="392879"/>
                  </a:cubicBezTo>
                  <a:lnTo>
                    <a:pt x="39153" y="392879"/>
                  </a:lnTo>
                  <a:cubicBezTo>
                    <a:pt x="28769" y="392879"/>
                    <a:pt x="18810" y="388754"/>
                    <a:pt x="11468" y="381411"/>
                  </a:cubicBezTo>
                  <a:cubicBezTo>
                    <a:pt x="4125" y="374069"/>
                    <a:pt x="0" y="364110"/>
                    <a:pt x="0" y="353726"/>
                  </a:cubicBezTo>
                  <a:lnTo>
                    <a:pt x="0" y="39153"/>
                  </a:lnTo>
                  <a:cubicBezTo>
                    <a:pt x="0" y="28769"/>
                    <a:pt x="4125" y="18810"/>
                    <a:pt x="11468" y="11468"/>
                  </a:cubicBezTo>
                  <a:cubicBezTo>
                    <a:pt x="18810" y="4125"/>
                    <a:pt x="28769" y="0"/>
                    <a:pt x="39153" y="0"/>
                  </a:cubicBezTo>
                  <a:close/>
                </a:path>
              </a:pathLst>
            </a:custGeom>
            <a:solidFill>
              <a:srgbClr val="EDE8E4"/>
            </a:solidFill>
          </p:spPr>
        </p:sp>
        <p:sp>
          <p:nvSpPr>
            <p:cNvPr name="TextBox 4" id="4"/>
            <p:cNvSpPr txBox="true"/>
            <p:nvPr/>
          </p:nvSpPr>
          <p:spPr>
            <a:xfrm>
              <a:off x="0" y="9525"/>
              <a:ext cx="812800" cy="383354"/>
            </a:xfrm>
            <a:prstGeom prst="rect">
              <a:avLst/>
            </a:prstGeom>
          </p:spPr>
          <p:txBody>
            <a:bodyPr anchor="ctr" rtlCol="false" tIns="50800" lIns="50800" bIns="50800" rIns="50800"/>
            <a:lstStyle/>
            <a:p>
              <a:pPr algn="ctr">
                <a:lnSpc>
                  <a:spcPts val="2121"/>
                </a:lnSpc>
              </a:pPr>
            </a:p>
          </p:txBody>
        </p:sp>
      </p:grpSp>
      <p:grpSp>
        <p:nvGrpSpPr>
          <p:cNvPr name="Group 5" id="5"/>
          <p:cNvGrpSpPr/>
          <p:nvPr/>
        </p:nvGrpSpPr>
        <p:grpSpPr>
          <a:xfrm rot="0">
            <a:off x="1028700" y="6256766"/>
            <a:ext cx="5141050" cy="2276723"/>
            <a:chOff x="0" y="0"/>
            <a:chExt cx="812800" cy="359950"/>
          </a:xfrm>
        </p:grpSpPr>
        <p:sp>
          <p:nvSpPr>
            <p:cNvPr name="Freeform 6" id="6"/>
            <p:cNvSpPr/>
            <p:nvPr/>
          </p:nvSpPr>
          <p:spPr>
            <a:xfrm flipH="false" flipV="false" rot="0">
              <a:off x="0" y="0"/>
              <a:ext cx="812800" cy="359950"/>
            </a:xfrm>
            <a:custGeom>
              <a:avLst/>
              <a:gdLst/>
              <a:ahLst/>
              <a:cxnLst/>
              <a:rect r="r" b="b" t="t" l="l"/>
              <a:pathLst>
                <a:path h="359950" w="812800">
                  <a:moveTo>
                    <a:pt x="39153" y="0"/>
                  </a:moveTo>
                  <a:lnTo>
                    <a:pt x="773647" y="0"/>
                  </a:lnTo>
                  <a:cubicBezTo>
                    <a:pt x="784031" y="0"/>
                    <a:pt x="793990" y="4125"/>
                    <a:pt x="801332" y="11468"/>
                  </a:cubicBezTo>
                  <a:cubicBezTo>
                    <a:pt x="808675" y="18810"/>
                    <a:pt x="812800" y="28769"/>
                    <a:pt x="812800" y="39153"/>
                  </a:cubicBezTo>
                  <a:lnTo>
                    <a:pt x="812800" y="320796"/>
                  </a:lnTo>
                  <a:cubicBezTo>
                    <a:pt x="812800" y="331181"/>
                    <a:pt x="808675" y="341139"/>
                    <a:pt x="801332" y="348482"/>
                  </a:cubicBezTo>
                  <a:cubicBezTo>
                    <a:pt x="793990" y="355825"/>
                    <a:pt x="784031" y="359950"/>
                    <a:pt x="773647" y="359950"/>
                  </a:cubicBezTo>
                  <a:lnTo>
                    <a:pt x="39153" y="359950"/>
                  </a:lnTo>
                  <a:cubicBezTo>
                    <a:pt x="28769" y="359950"/>
                    <a:pt x="18810" y="355825"/>
                    <a:pt x="11468" y="348482"/>
                  </a:cubicBezTo>
                  <a:cubicBezTo>
                    <a:pt x="4125" y="341139"/>
                    <a:pt x="0" y="331181"/>
                    <a:pt x="0" y="320796"/>
                  </a:cubicBezTo>
                  <a:lnTo>
                    <a:pt x="0" y="39153"/>
                  </a:lnTo>
                  <a:cubicBezTo>
                    <a:pt x="0" y="28769"/>
                    <a:pt x="4125" y="18810"/>
                    <a:pt x="11468" y="11468"/>
                  </a:cubicBezTo>
                  <a:cubicBezTo>
                    <a:pt x="18810" y="4125"/>
                    <a:pt x="28769" y="0"/>
                    <a:pt x="39153" y="0"/>
                  </a:cubicBezTo>
                  <a:close/>
                </a:path>
              </a:pathLst>
            </a:custGeom>
            <a:solidFill>
              <a:srgbClr val="EDE8E4"/>
            </a:solidFill>
          </p:spPr>
        </p:sp>
        <p:sp>
          <p:nvSpPr>
            <p:cNvPr name="TextBox 7" id="7"/>
            <p:cNvSpPr txBox="true"/>
            <p:nvPr/>
          </p:nvSpPr>
          <p:spPr>
            <a:xfrm>
              <a:off x="0" y="9525"/>
              <a:ext cx="812800" cy="350425"/>
            </a:xfrm>
            <a:prstGeom prst="rect">
              <a:avLst/>
            </a:prstGeom>
          </p:spPr>
          <p:txBody>
            <a:bodyPr anchor="ctr" rtlCol="false" tIns="50800" lIns="50800" bIns="50800" rIns="50800"/>
            <a:lstStyle/>
            <a:p>
              <a:pPr algn="ctr">
                <a:lnSpc>
                  <a:spcPts val="2121"/>
                </a:lnSpc>
              </a:pPr>
            </a:p>
          </p:txBody>
        </p:sp>
      </p:grpSp>
      <p:sp>
        <p:nvSpPr>
          <p:cNvPr name="TextBox 8" id="8"/>
          <p:cNvSpPr txBox="true"/>
          <p:nvPr/>
        </p:nvSpPr>
        <p:spPr>
          <a:xfrm rot="0">
            <a:off x="3349112" y="582455"/>
            <a:ext cx="12644063" cy="1252164"/>
          </a:xfrm>
          <a:prstGeom prst="rect">
            <a:avLst/>
          </a:prstGeom>
        </p:spPr>
        <p:txBody>
          <a:bodyPr anchor="t" rtlCol="false" tIns="0" lIns="0" bIns="0" rIns="0">
            <a:spAutoFit/>
          </a:bodyPr>
          <a:lstStyle/>
          <a:p>
            <a:pPr algn="ctr">
              <a:lnSpc>
                <a:spcPts val="10258"/>
              </a:lnSpc>
            </a:pPr>
            <a:r>
              <a:rPr lang="en-US" b="true" sz="7327" spc="688">
                <a:solidFill>
                  <a:srgbClr val="EDE8E4"/>
                </a:solidFill>
                <a:latin typeface="Glacial Indifference Bold"/>
                <a:ea typeface="Glacial Indifference Bold"/>
                <a:cs typeface="Glacial Indifference Bold"/>
                <a:sym typeface="Glacial Indifference Bold"/>
              </a:rPr>
              <a:t>ARQUITECTURA HDFS</a:t>
            </a:r>
          </a:p>
        </p:txBody>
      </p:sp>
      <p:sp>
        <p:nvSpPr>
          <p:cNvPr name="TextBox 9" id="9"/>
          <p:cNvSpPr txBox="true"/>
          <p:nvPr/>
        </p:nvSpPr>
        <p:spPr>
          <a:xfrm rot="0">
            <a:off x="1232966" y="3434804"/>
            <a:ext cx="4563411" cy="830582"/>
          </a:xfrm>
          <a:prstGeom prst="rect">
            <a:avLst/>
          </a:prstGeom>
        </p:spPr>
        <p:txBody>
          <a:bodyPr anchor="t" rtlCol="false" tIns="0" lIns="0" bIns="0" rIns="0">
            <a:spAutoFit/>
          </a:bodyPr>
          <a:lstStyle/>
          <a:p>
            <a:pPr algn="ctr">
              <a:lnSpc>
                <a:spcPts val="6719"/>
              </a:lnSpc>
            </a:pPr>
            <a:r>
              <a:rPr lang="en-US" b="true" sz="4799" spc="451">
                <a:solidFill>
                  <a:srgbClr val="D89C6C"/>
                </a:solidFill>
                <a:latin typeface="Glacial Indifference Bold"/>
                <a:ea typeface="Glacial Indifference Bold"/>
                <a:cs typeface="Glacial Indifference Bold"/>
                <a:sym typeface="Glacial Indifference Bold"/>
              </a:rPr>
              <a:t>NAMENODE:</a:t>
            </a:r>
          </a:p>
        </p:txBody>
      </p:sp>
      <p:sp>
        <p:nvSpPr>
          <p:cNvPr name="AutoShape 10" id="10"/>
          <p:cNvSpPr/>
          <p:nvPr/>
        </p:nvSpPr>
        <p:spPr>
          <a:xfrm flipV="true">
            <a:off x="1232966" y="4401197"/>
            <a:ext cx="4732518" cy="0"/>
          </a:xfrm>
          <a:prstGeom prst="line">
            <a:avLst/>
          </a:prstGeom>
          <a:ln cap="flat" w="38100">
            <a:solidFill>
              <a:srgbClr val="253754"/>
            </a:solidFill>
            <a:prstDash val="solid"/>
            <a:headEnd type="none" len="sm" w="sm"/>
            <a:tailEnd type="none" len="sm" w="sm"/>
          </a:ln>
        </p:spPr>
      </p:sp>
      <p:sp>
        <p:nvSpPr>
          <p:cNvPr name="AutoShape 11" id="11"/>
          <p:cNvSpPr/>
          <p:nvPr/>
        </p:nvSpPr>
        <p:spPr>
          <a:xfrm flipV="true">
            <a:off x="1232966" y="7169413"/>
            <a:ext cx="4732518" cy="0"/>
          </a:xfrm>
          <a:prstGeom prst="line">
            <a:avLst/>
          </a:prstGeom>
          <a:ln cap="flat" w="38100">
            <a:solidFill>
              <a:srgbClr val="253754"/>
            </a:solidFill>
            <a:prstDash val="solid"/>
            <a:headEnd type="none" len="sm" w="sm"/>
            <a:tailEnd type="none" len="sm" w="sm"/>
          </a:ln>
        </p:spPr>
      </p:sp>
      <p:sp>
        <p:nvSpPr>
          <p:cNvPr name="AutoShape 12" id="12"/>
          <p:cNvSpPr/>
          <p:nvPr/>
        </p:nvSpPr>
        <p:spPr>
          <a:xfrm flipV="true">
            <a:off x="12166023" y="4136506"/>
            <a:ext cx="4732518" cy="0"/>
          </a:xfrm>
          <a:prstGeom prst="line">
            <a:avLst/>
          </a:prstGeom>
          <a:ln cap="flat" w="38100">
            <a:solidFill>
              <a:srgbClr val="253754"/>
            </a:solidFill>
            <a:prstDash val="solid"/>
            <a:headEnd type="none" len="sm" w="sm"/>
            <a:tailEnd type="none" len="sm" w="sm"/>
          </a:ln>
        </p:spPr>
      </p:sp>
      <p:sp>
        <p:nvSpPr>
          <p:cNvPr name="Freeform 13" id="13"/>
          <p:cNvSpPr/>
          <p:nvPr/>
        </p:nvSpPr>
        <p:spPr>
          <a:xfrm flipH="false" flipV="false" rot="672866">
            <a:off x="-1652536" y="-2406923"/>
            <a:ext cx="6556116" cy="6126988"/>
          </a:xfrm>
          <a:custGeom>
            <a:avLst/>
            <a:gdLst/>
            <a:ahLst/>
            <a:cxnLst/>
            <a:rect r="r" b="b" t="t" l="l"/>
            <a:pathLst>
              <a:path h="6126988" w="6556116">
                <a:moveTo>
                  <a:pt x="0" y="0"/>
                </a:moveTo>
                <a:lnTo>
                  <a:pt x="6556116" y="0"/>
                </a:lnTo>
                <a:lnTo>
                  <a:pt x="6556116" y="6126988"/>
                </a:lnTo>
                <a:lnTo>
                  <a:pt x="0" y="61269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4" id="14"/>
          <p:cNvSpPr/>
          <p:nvPr/>
        </p:nvSpPr>
        <p:spPr>
          <a:xfrm flipH="false" flipV="false" rot="-10799999">
            <a:off x="12715117" y="7583041"/>
            <a:ext cx="6556116" cy="6126988"/>
          </a:xfrm>
          <a:custGeom>
            <a:avLst/>
            <a:gdLst/>
            <a:ahLst/>
            <a:cxnLst/>
            <a:rect r="r" b="b" t="t" l="l"/>
            <a:pathLst>
              <a:path h="6126988" w="6556116">
                <a:moveTo>
                  <a:pt x="0" y="0"/>
                </a:moveTo>
                <a:lnTo>
                  <a:pt x="6556116" y="0"/>
                </a:lnTo>
                <a:lnTo>
                  <a:pt x="6556116" y="6126988"/>
                </a:lnTo>
                <a:lnTo>
                  <a:pt x="0" y="61269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5" id="15"/>
          <p:cNvSpPr/>
          <p:nvPr/>
        </p:nvSpPr>
        <p:spPr>
          <a:xfrm flipH="false" flipV="false" rot="0">
            <a:off x="6641019" y="3486089"/>
            <a:ext cx="10618281" cy="4993910"/>
          </a:xfrm>
          <a:custGeom>
            <a:avLst/>
            <a:gdLst/>
            <a:ahLst/>
            <a:cxnLst/>
            <a:rect r="r" b="b" t="t" l="l"/>
            <a:pathLst>
              <a:path h="4993910" w="10618281">
                <a:moveTo>
                  <a:pt x="0" y="0"/>
                </a:moveTo>
                <a:lnTo>
                  <a:pt x="10618281" y="0"/>
                </a:lnTo>
                <a:lnTo>
                  <a:pt x="10618281" y="4993910"/>
                </a:lnTo>
                <a:lnTo>
                  <a:pt x="0" y="4993910"/>
                </a:lnTo>
                <a:lnTo>
                  <a:pt x="0" y="0"/>
                </a:lnTo>
                <a:close/>
              </a:path>
            </a:pathLst>
          </a:custGeom>
          <a:blipFill>
            <a:blip r:embed="rId4"/>
            <a:stretch>
              <a:fillRect l="0" t="0" r="0" b="0"/>
            </a:stretch>
          </a:blipFill>
        </p:spPr>
      </p:sp>
      <p:sp>
        <p:nvSpPr>
          <p:cNvPr name="TextBox 16" id="16"/>
          <p:cNvSpPr txBox="true"/>
          <p:nvPr/>
        </p:nvSpPr>
        <p:spPr>
          <a:xfrm rot="0">
            <a:off x="1317520" y="4477397"/>
            <a:ext cx="4563411" cy="1358629"/>
          </a:xfrm>
          <a:prstGeom prst="rect">
            <a:avLst/>
          </a:prstGeom>
        </p:spPr>
        <p:txBody>
          <a:bodyPr anchor="t" rtlCol="false" tIns="0" lIns="0" bIns="0" rIns="0">
            <a:spAutoFit/>
          </a:bodyPr>
          <a:lstStyle/>
          <a:p>
            <a:pPr algn="ctr">
              <a:lnSpc>
                <a:spcPts val="3648"/>
              </a:lnSpc>
            </a:pPr>
            <a:r>
              <a:rPr lang="en-US" sz="2605" spc="57" strike="noStrike" u="none">
                <a:solidFill>
                  <a:srgbClr val="152540"/>
                </a:solidFill>
                <a:latin typeface="Glacial Indifference"/>
                <a:ea typeface="Glacial Indifference"/>
                <a:cs typeface="Glacial Indifference"/>
                <a:sym typeface="Glacial Indifference"/>
              </a:rPr>
              <a:t> Administra los metadatos del sistema (nombres, ubicaciones y permisos de archivos</a:t>
            </a:r>
          </a:p>
        </p:txBody>
      </p:sp>
      <p:sp>
        <p:nvSpPr>
          <p:cNvPr name="TextBox 17" id="17"/>
          <p:cNvSpPr txBox="true"/>
          <p:nvPr/>
        </p:nvSpPr>
        <p:spPr>
          <a:xfrm rot="0">
            <a:off x="1317520" y="7245613"/>
            <a:ext cx="4563411" cy="902740"/>
          </a:xfrm>
          <a:prstGeom prst="rect">
            <a:avLst/>
          </a:prstGeom>
        </p:spPr>
        <p:txBody>
          <a:bodyPr anchor="t" rtlCol="false" tIns="0" lIns="0" bIns="0" rIns="0">
            <a:spAutoFit/>
          </a:bodyPr>
          <a:lstStyle/>
          <a:p>
            <a:pPr algn="ctr">
              <a:lnSpc>
                <a:spcPts val="3648"/>
              </a:lnSpc>
            </a:pPr>
            <a:r>
              <a:rPr lang="en-US" sz="2605" spc="57" strike="noStrike" u="none">
                <a:solidFill>
                  <a:srgbClr val="152540"/>
                </a:solidFill>
                <a:latin typeface="Glacial Indifference"/>
                <a:ea typeface="Glacial Indifference"/>
                <a:cs typeface="Glacial Indifference"/>
                <a:sym typeface="Glacial Indifference"/>
              </a:rPr>
              <a:t> Almacena físicamente los bloques de datos.</a:t>
            </a:r>
          </a:p>
        </p:txBody>
      </p:sp>
      <p:sp>
        <p:nvSpPr>
          <p:cNvPr name="TextBox 18" id="18"/>
          <p:cNvSpPr txBox="true"/>
          <p:nvPr/>
        </p:nvSpPr>
        <p:spPr>
          <a:xfrm rot="0">
            <a:off x="1317520" y="6205482"/>
            <a:ext cx="4563411" cy="830581"/>
          </a:xfrm>
          <a:prstGeom prst="rect">
            <a:avLst/>
          </a:prstGeom>
        </p:spPr>
        <p:txBody>
          <a:bodyPr anchor="t" rtlCol="false" tIns="0" lIns="0" bIns="0" rIns="0">
            <a:spAutoFit/>
          </a:bodyPr>
          <a:lstStyle/>
          <a:p>
            <a:pPr algn="ctr">
              <a:lnSpc>
                <a:spcPts val="6719"/>
              </a:lnSpc>
            </a:pPr>
            <a:r>
              <a:rPr lang="en-US" b="true" sz="4799" spc="451">
                <a:solidFill>
                  <a:srgbClr val="D89C6C"/>
                </a:solidFill>
                <a:latin typeface="Glacial Indifference Bold"/>
                <a:ea typeface="Glacial Indifference Bold"/>
                <a:cs typeface="Glacial Indifference Bold"/>
                <a:sym typeface="Glacial Indifference Bold"/>
              </a:rPr>
              <a:t>DATANODE:</a:t>
            </a:r>
          </a:p>
        </p:txBody>
      </p:sp>
      <p:sp>
        <p:nvSpPr>
          <p:cNvPr name="TextBox 19" id="19"/>
          <p:cNvSpPr txBox="true"/>
          <p:nvPr/>
        </p:nvSpPr>
        <p:spPr>
          <a:xfrm rot="0">
            <a:off x="2392971" y="2410619"/>
            <a:ext cx="12008644" cy="499469"/>
          </a:xfrm>
          <a:prstGeom prst="rect">
            <a:avLst/>
          </a:prstGeom>
        </p:spPr>
        <p:txBody>
          <a:bodyPr anchor="t" rtlCol="false" tIns="0" lIns="0" bIns="0" rIns="0">
            <a:spAutoFit/>
          </a:bodyPr>
          <a:lstStyle/>
          <a:p>
            <a:pPr algn="ctr">
              <a:lnSpc>
                <a:spcPts val="3906"/>
              </a:lnSpc>
              <a:spcBef>
                <a:spcPct val="0"/>
              </a:spcBef>
            </a:pPr>
            <a:r>
              <a:rPr lang="en-US" sz="3282">
                <a:solidFill>
                  <a:srgbClr val="E3D8D4"/>
                </a:solidFill>
                <a:latin typeface="Open Sans"/>
                <a:ea typeface="Open Sans"/>
                <a:cs typeface="Open Sans"/>
                <a:sym typeface="Open Sans"/>
              </a:rPr>
              <a:t>HDFS sigue una arquitectura maestro-esclavo compuesta por:</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TextBox 2" id="2"/>
          <p:cNvSpPr txBox="true"/>
          <p:nvPr/>
        </p:nvSpPr>
        <p:spPr>
          <a:xfrm rot="0">
            <a:off x="4235367" y="331181"/>
            <a:ext cx="9817265" cy="1252164"/>
          </a:xfrm>
          <a:prstGeom prst="rect">
            <a:avLst/>
          </a:prstGeom>
        </p:spPr>
        <p:txBody>
          <a:bodyPr anchor="t" rtlCol="false" tIns="0" lIns="0" bIns="0" rIns="0">
            <a:spAutoFit/>
          </a:bodyPr>
          <a:lstStyle/>
          <a:p>
            <a:pPr algn="ctr" marL="0" indent="0" lvl="0">
              <a:lnSpc>
                <a:spcPts val="10258"/>
              </a:lnSpc>
              <a:spcBef>
                <a:spcPct val="0"/>
              </a:spcBef>
            </a:pPr>
            <a:r>
              <a:rPr lang="en-US" b="true" sz="7327" spc="688">
                <a:solidFill>
                  <a:srgbClr val="152540"/>
                </a:solidFill>
                <a:latin typeface="Glacial Indifference Bold"/>
                <a:ea typeface="Glacial Indifference Bold"/>
                <a:cs typeface="Glacial Indifference Bold"/>
                <a:sym typeface="Glacial Indifference Bold"/>
              </a:rPr>
              <a:t>NAMENODE</a:t>
            </a:r>
          </a:p>
        </p:txBody>
      </p:sp>
      <p:sp>
        <p:nvSpPr>
          <p:cNvPr name="Freeform 3" id="3"/>
          <p:cNvSpPr/>
          <p:nvPr/>
        </p:nvSpPr>
        <p:spPr>
          <a:xfrm flipH="false" flipV="false" rot="0">
            <a:off x="-290950" y="-2033784"/>
            <a:ext cx="5544196" cy="5181303"/>
          </a:xfrm>
          <a:custGeom>
            <a:avLst/>
            <a:gdLst/>
            <a:ahLst/>
            <a:cxnLst/>
            <a:rect r="r" b="b" t="t" l="l"/>
            <a:pathLst>
              <a:path h="5181303" w="5544196">
                <a:moveTo>
                  <a:pt x="0" y="0"/>
                </a:moveTo>
                <a:lnTo>
                  <a:pt x="5544196" y="0"/>
                </a:lnTo>
                <a:lnTo>
                  <a:pt x="5544196" y="5181303"/>
                </a:lnTo>
                <a:lnTo>
                  <a:pt x="0" y="51813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9354559">
            <a:off x="12207201" y="5475509"/>
            <a:ext cx="8367389" cy="7819705"/>
          </a:xfrm>
          <a:custGeom>
            <a:avLst/>
            <a:gdLst/>
            <a:ahLst/>
            <a:cxnLst/>
            <a:rect r="r" b="b" t="t" l="l"/>
            <a:pathLst>
              <a:path h="7819705" w="8367389">
                <a:moveTo>
                  <a:pt x="0" y="0"/>
                </a:moveTo>
                <a:lnTo>
                  <a:pt x="8367389" y="0"/>
                </a:lnTo>
                <a:lnTo>
                  <a:pt x="8367389" y="7819705"/>
                </a:lnTo>
                <a:lnTo>
                  <a:pt x="0" y="7819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5400000">
            <a:off x="13112837" y="-1659911"/>
            <a:ext cx="6556116" cy="6126988"/>
          </a:xfrm>
          <a:custGeom>
            <a:avLst/>
            <a:gdLst/>
            <a:ahLst/>
            <a:cxnLst/>
            <a:rect r="r" b="b" t="t" l="l"/>
            <a:pathLst>
              <a:path h="6126988" w="6556116">
                <a:moveTo>
                  <a:pt x="0" y="0"/>
                </a:moveTo>
                <a:lnTo>
                  <a:pt x="6556116" y="0"/>
                </a:lnTo>
                <a:lnTo>
                  <a:pt x="6556116" y="6126988"/>
                </a:lnTo>
                <a:lnTo>
                  <a:pt x="0" y="61269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5521968">
            <a:off x="-1614569" y="6194806"/>
            <a:ext cx="6556116" cy="6126988"/>
          </a:xfrm>
          <a:custGeom>
            <a:avLst/>
            <a:gdLst/>
            <a:ahLst/>
            <a:cxnLst/>
            <a:rect r="r" b="b" t="t" l="l"/>
            <a:pathLst>
              <a:path h="6126988" w="6556116">
                <a:moveTo>
                  <a:pt x="0" y="0"/>
                </a:moveTo>
                <a:lnTo>
                  <a:pt x="6556116" y="0"/>
                </a:lnTo>
                <a:lnTo>
                  <a:pt x="6556116" y="6126988"/>
                </a:lnTo>
                <a:lnTo>
                  <a:pt x="0" y="61269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7" id="7"/>
          <p:cNvSpPr txBox="true"/>
          <p:nvPr/>
        </p:nvSpPr>
        <p:spPr>
          <a:xfrm rot="0">
            <a:off x="1780297" y="2584435"/>
            <a:ext cx="14727406" cy="2981147"/>
          </a:xfrm>
          <a:prstGeom prst="rect">
            <a:avLst/>
          </a:prstGeom>
        </p:spPr>
        <p:txBody>
          <a:bodyPr anchor="t" rtlCol="false" tIns="0" lIns="0" bIns="0" rIns="0">
            <a:spAutoFit/>
          </a:bodyPr>
          <a:lstStyle/>
          <a:p>
            <a:pPr algn="just">
              <a:lnSpc>
                <a:spcPts val="4734"/>
              </a:lnSpc>
            </a:pPr>
            <a:r>
              <a:rPr lang="en-US" sz="3382" spc="74">
                <a:solidFill>
                  <a:srgbClr val="152540"/>
                </a:solidFill>
                <a:latin typeface="Glacial Indifference"/>
                <a:ea typeface="Glacial Indifference"/>
                <a:cs typeface="Glacial Indifference"/>
                <a:sym typeface="Glacial Indifference"/>
              </a:rPr>
              <a:t>Un clúste</a:t>
            </a:r>
            <a:r>
              <a:rPr lang="en-US" sz="3382" spc="74" strike="noStrike" u="none">
                <a:solidFill>
                  <a:srgbClr val="152540"/>
                </a:solidFill>
                <a:latin typeface="Glacial Indifference"/>
                <a:ea typeface="Glacial Indifference"/>
                <a:cs typeface="Glacial Indifference"/>
                <a:sym typeface="Glacial Indifference"/>
              </a:rPr>
              <a:t>r HDFS incluye un NameNode, que es el servidor maestro. NameNode rastrea el estado de todos los archivos, las licencias de los archivos y la ubicación de cada bloque. Gestiona el espacio del sistema de archivos que, a su vez, rastrea y controla el acceso de los clientes a los archivos y realiza operaciones</a:t>
            </a:r>
          </a:p>
        </p:txBody>
      </p:sp>
      <p:sp>
        <p:nvSpPr>
          <p:cNvPr name="TextBox 8" id="8"/>
          <p:cNvSpPr txBox="true"/>
          <p:nvPr/>
        </p:nvSpPr>
        <p:spPr>
          <a:xfrm rot="0">
            <a:off x="1663489" y="6276205"/>
            <a:ext cx="14844214" cy="1780997"/>
          </a:xfrm>
          <a:prstGeom prst="rect">
            <a:avLst/>
          </a:prstGeom>
        </p:spPr>
        <p:txBody>
          <a:bodyPr anchor="t" rtlCol="false" tIns="0" lIns="0" bIns="0" rIns="0">
            <a:spAutoFit/>
          </a:bodyPr>
          <a:lstStyle/>
          <a:p>
            <a:pPr algn="just">
              <a:lnSpc>
                <a:spcPts val="4734"/>
              </a:lnSpc>
            </a:pPr>
            <a:r>
              <a:rPr lang="en-US" sz="3382" spc="74">
                <a:solidFill>
                  <a:srgbClr val="152540"/>
                </a:solidFill>
                <a:latin typeface="Glacial Indifference"/>
                <a:ea typeface="Glacial Indifference"/>
                <a:cs typeface="Glacial Indifference"/>
                <a:sym typeface="Glacial Indifference"/>
              </a:rPr>
              <a:t>El</a:t>
            </a:r>
            <a:r>
              <a:rPr lang="en-US" sz="3382" spc="74" strike="noStrike" u="none">
                <a:solidFill>
                  <a:srgbClr val="152540"/>
                </a:solidFill>
                <a:latin typeface="Glacial Indifference"/>
                <a:ea typeface="Glacial Indifference"/>
                <a:cs typeface="Glacial Indifference"/>
                <a:sym typeface="Glacial Indifference"/>
              </a:rPr>
              <a:t> espacio de nombres del sistema de archivos también divide los archivos en bloques y asigna los bloques a DataNodes, que es la parte esclavo del sistema.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0">
            <a:off x="438131" y="7173582"/>
            <a:ext cx="7641686" cy="6808048"/>
          </a:xfrm>
          <a:custGeom>
            <a:avLst/>
            <a:gdLst/>
            <a:ahLst/>
            <a:cxnLst/>
            <a:rect r="r" b="b" t="t" l="l"/>
            <a:pathLst>
              <a:path h="6808048" w="7641686">
                <a:moveTo>
                  <a:pt x="0" y="0"/>
                </a:moveTo>
                <a:lnTo>
                  <a:pt x="7641686" y="0"/>
                </a:lnTo>
                <a:lnTo>
                  <a:pt x="7641686" y="6808048"/>
                </a:lnTo>
                <a:lnTo>
                  <a:pt x="0" y="68080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1849738" y="-4940726"/>
            <a:ext cx="7641686" cy="6808048"/>
          </a:xfrm>
          <a:custGeom>
            <a:avLst/>
            <a:gdLst/>
            <a:ahLst/>
            <a:cxnLst/>
            <a:rect r="r" b="b" t="t" l="l"/>
            <a:pathLst>
              <a:path h="6808048" w="7641686">
                <a:moveTo>
                  <a:pt x="0" y="0"/>
                </a:moveTo>
                <a:lnTo>
                  <a:pt x="7641686" y="0"/>
                </a:lnTo>
                <a:lnTo>
                  <a:pt x="7641686" y="6808048"/>
                </a:lnTo>
                <a:lnTo>
                  <a:pt x="0" y="68080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8798399">
            <a:off x="13156923" y="1016610"/>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8798399">
            <a:off x="-2994864" y="-864598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6" id="6"/>
          <p:cNvGrpSpPr/>
          <p:nvPr/>
        </p:nvGrpSpPr>
        <p:grpSpPr>
          <a:xfrm rot="0">
            <a:off x="819310" y="2426294"/>
            <a:ext cx="15199596" cy="6326797"/>
            <a:chOff x="0" y="0"/>
            <a:chExt cx="4925392" cy="2050183"/>
          </a:xfrm>
        </p:grpSpPr>
        <p:sp>
          <p:nvSpPr>
            <p:cNvPr name="Freeform 7" id="7"/>
            <p:cNvSpPr/>
            <p:nvPr/>
          </p:nvSpPr>
          <p:spPr>
            <a:xfrm flipH="false" flipV="false" rot="0">
              <a:off x="0" y="0"/>
              <a:ext cx="4925392" cy="2050183"/>
            </a:xfrm>
            <a:custGeom>
              <a:avLst/>
              <a:gdLst/>
              <a:ahLst/>
              <a:cxnLst/>
              <a:rect r="r" b="b" t="t" l="l"/>
              <a:pathLst>
                <a:path h="2050183" w="4925392">
                  <a:moveTo>
                    <a:pt x="19865" y="0"/>
                  </a:moveTo>
                  <a:lnTo>
                    <a:pt x="4905527" y="0"/>
                  </a:lnTo>
                  <a:cubicBezTo>
                    <a:pt x="4916498" y="0"/>
                    <a:pt x="4925392" y="8894"/>
                    <a:pt x="4925392" y="19865"/>
                  </a:cubicBezTo>
                  <a:lnTo>
                    <a:pt x="4925392" y="2030318"/>
                  </a:lnTo>
                  <a:cubicBezTo>
                    <a:pt x="4925392" y="2041289"/>
                    <a:pt x="4916498" y="2050183"/>
                    <a:pt x="4905527" y="2050183"/>
                  </a:cubicBezTo>
                  <a:lnTo>
                    <a:pt x="19865" y="2050183"/>
                  </a:lnTo>
                  <a:cubicBezTo>
                    <a:pt x="8894" y="2050183"/>
                    <a:pt x="0" y="2041289"/>
                    <a:pt x="0" y="2030318"/>
                  </a:cubicBezTo>
                  <a:lnTo>
                    <a:pt x="0" y="19865"/>
                  </a:lnTo>
                  <a:cubicBezTo>
                    <a:pt x="0" y="8894"/>
                    <a:pt x="8894" y="0"/>
                    <a:pt x="19865" y="0"/>
                  </a:cubicBezTo>
                  <a:close/>
                </a:path>
              </a:pathLst>
            </a:custGeom>
            <a:solidFill>
              <a:srgbClr val="253754"/>
            </a:solidFill>
            <a:ln cap="rnd">
              <a:noFill/>
              <a:prstDash val="solid"/>
              <a:round/>
            </a:ln>
          </p:spPr>
        </p:sp>
        <p:sp>
          <p:nvSpPr>
            <p:cNvPr name="TextBox 8" id="8"/>
            <p:cNvSpPr txBox="true"/>
            <p:nvPr/>
          </p:nvSpPr>
          <p:spPr>
            <a:xfrm>
              <a:off x="0" y="9525"/>
              <a:ext cx="4925392" cy="2040658"/>
            </a:xfrm>
            <a:prstGeom prst="rect">
              <a:avLst/>
            </a:prstGeom>
          </p:spPr>
          <p:txBody>
            <a:bodyPr anchor="ctr" rtlCol="false" tIns="50800" lIns="50800" bIns="50800" rIns="50800"/>
            <a:lstStyle/>
            <a:p>
              <a:pPr algn="ctr">
                <a:lnSpc>
                  <a:spcPts val="2121"/>
                </a:lnSpc>
              </a:pPr>
            </a:p>
          </p:txBody>
        </p:sp>
      </p:grpSp>
      <p:sp>
        <p:nvSpPr>
          <p:cNvPr name="TextBox 9" id="9"/>
          <p:cNvSpPr txBox="true"/>
          <p:nvPr/>
        </p:nvSpPr>
        <p:spPr>
          <a:xfrm rot="0">
            <a:off x="1405359" y="2619112"/>
            <a:ext cx="14027499" cy="6374130"/>
          </a:xfrm>
          <a:prstGeom prst="rect">
            <a:avLst/>
          </a:prstGeom>
        </p:spPr>
        <p:txBody>
          <a:bodyPr anchor="t" rtlCol="false" tIns="0" lIns="0" bIns="0" rIns="0">
            <a:spAutoFit/>
          </a:bodyPr>
          <a:lstStyle/>
          <a:p>
            <a:pPr algn="just">
              <a:lnSpc>
                <a:spcPts val="4620"/>
              </a:lnSpc>
            </a:pPr>
            <a:r>
              <a:rPr lang="en-US" sz="3300" spc="72" strike="noStrike" u="none">
                <a:solidFill>
                  <a:srgbClr val="EDE8E4"/>
                </a:solidFill>
                <a:latin typeface="Glacial Indifference"/>
                <a:ea typeface="Glacial Indifference"/>
                <a:cs typeface="Glacial Indifference"/>
                <a:sym typeface="Glacial Indifference"/>
              </a:rPr>
              <a:t>La mayoría de las veces hay un DataNode por nodo en un clúster que gestiona el almacenamiento de datos dentro del nodo. </a:t>
            </a:r>
          </a:p>
          <a:p>
            <a:pPr algn="just">
              <a:lnSpc>
                <a:spcPts val="4620"/>
              </a:lnSpc>
            </a:pPr>
            <a:r>
              <a:rPr lang="en-US" sz="3300" spc="72" strike="noStrike" u="none">
                <a:solidFill>
                  <a:srgbClr val="EDE8E4"/>
                </a:solidFill>
                <a:latin typeface="Glacial Indifference"/>
                <a:ea typeface="Glacial Indifference"/>
                <a:cs typeface="Glacial Indifference"/>
                <a:sym typeface="Glacial Indifference"/>
              </a:rPr>
              <a:t>El software gestiona la creación, eliminación y replicación de bloques, además de las solicitudes de lectura y escritura. </a:t>
            </a:r>
          </a:p>
          <a:p>
            <a:pPr algn="just">
              <a:lnSpc>
                <a:spcPts val="4620"/>
              </a:lnSpc>
            </a:pPr>
          </a:p>
          <a:p>
            <a:pPr algn="just">
              <a:lnSpc>
                <a:spcPts val="4620"/>
              </a:lnSpc>
            </a:pPr>
            <a:r>
              <a:rPr lang="en-US" sz="3300" spc="72" strike="noStrike" u="none">
                <a:solidFill>
                  <a:srgbClr val="EDE8E4"/>
                </a:solidFill>
                <a:latin typeface="Glacial Indifference"/>
                <a:ea typeface="Glacial Indifference"/>
                <a:cs typeface="Glacial Indifference"/>
                <a:sym typeface="Glacial Indifference"/>
              </a:rPr>
              <a:t>Cada DataNode almacena por separado los datos de HDFS en su sistema de archivos local con cada bloque como un archivo independiente. Los DataNodes son los nodos esclavos (o demonios Hadoop, que ejecutan procesos en segundo plano) y pueden ejecutarse en hardware básico si una organización quiere economizar.</a:t>
            </a:r>
          </a:p>
          <a:p>
            <a:pPr algn="ctr">
              <a:lnSpc>
                <a:spcPts val="4620"/>
              </a:lnSpc>
            </a:pPr>
          </a:p>
        </p:txBody>
      </p:sp>
      <p:sp>
        <p:nvSpPr>
          <p:cNvPr name="Freeform 10" id="10"/>
          <p:cNvSpPr/>
          <p:nvPr/>
        </p:nvSpPr>
        <p:spPr>
          <a:xfrm flipH="false" flipV="false" rot="9961243">
            <a:off x="12217193" y="-3026777"/>
            <a:ext cx="10084214" cy="8727429"/>
          </a:xfrm>
          <a:custGeom>
            <a:avLst/>
            <a:gdLst/>
            <a:ahLst/>
            <a:cxnLst/>
            <a:rect r="r" b="b" t="t" l="l"/>
            <a:pathLst>
              <a:path h="8727429" w="10084214">
                <a:moveTo>
                  <a:pt x="0" y="0"/>
                </a:moveTo>
                <a:lnTo>
                  <a:pt x="10084214" y="0"/>
                </a:lnTo>
                <a:lnTo>
                  <a:pt x="10084214" y="8727429"/>
                </a:lnTo>
                <a:lnTo>
                  <a:pt x="0" y="87274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1" id="11"/>
          <p:cNvSpPr/>
          <p:nvPr/>
        </p:nvSpPr>
        <p:spPr>
          <a:xfrm flipH="false" flipV="false" rot="-976001">
            <a:off x="-4614341" y="5979010"/>
            <a:ext cx="9228681" cy="7987004"/>
          </a:xfrm>
          <a:custGeom>
            <a:avLst/>
            <a:gdLst/>
            <a:ahLst/>
            <a:cxnLst/>
            <a:rect r="r" b="b" t="t" l="l"/>
            <a:pathLst>
              <a:path h="7987004" w="9228681">
                <a:moveTo>
                  <a:pt x="0" y="0"/>
                </a:moveTo>
                <a:lnTo>
                  <a:pt x="9228682" y="0"/>
                </a:lnTo>
                <a:lnTo>
                  <a:pt x="9228682" y="7987004"/>
                </a:lnTo>
                <a:lnTo>
                  <a:pt x="0" y="79870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12" id="12"/>
          <p:cNvSpPr txBox="true"/>
          <p:nvPr/>
        </p:nvSpPr>
        <p:spPr>
          <a:xfrm rot="0">
            <a:off x="819310" y="635838"/>
            <a:ext cx="8324690" cy="1259324"/>
          </a:xfrm>
          <a:prstGeom prst="rect">
            <a:avLst/>
          </a:prstGeom>
        </p:spPr>
        <p:txBody>
          <a:bodyPr anchor="t" rtlCol="false" tIns="0" lIns="0" bIns="0" rIns="0">
            <a:spAutoFit/>
          </a:bodyPr>
          <a:lstStyle/>
          <a:p>
            <a:pPr algn="l">
              <a:lnSpc>
                <a:spcPts val="10258"/>
              </a:lnSpc>
            </a:pPr>
            <a:r>
              <a:rPr lang="en-US" b="true" sz="7327" spc="688">
                <a:solidFill>
                  <a:srgbClr val="152540"/>
                </a:solidFill>
                <a:latin typeface="Glacial Indifference Bold"/>
                <a:ea typeface="Glacial Indifference Bold"/>
                <a:cs typeface="Glacial Indifference Bold"/>
                <a:sym typeface="Glacial Indifference Bold"/>
              </a:rPr>
              <a:t>DATANODE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2360214" y="-1428445"/>
            <a:ext cx="9798172" cy="13143890"/>
          </a:xfrm>
          <a:custGeom>
            <a:avLst/>
            <a:gdLst/>
            <a:ahLst/>
            <a:cxnLst/>
            <a:rect r="r" b="b" t="t" l="l"/>
            <a:pathLst>
              <a:path h="13143890" w="9798172">
                <a:moveTo>
                  <a:pt x="0" y="0"/>
                </a:moveTo>
                <a:lnTo>
                  <a:pt x="9798172" y="0"/>
                </a:lnTo>
                <a:lnTo>
                  <a:pt x="9798172"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514350" y="-3700864"/>
            <a:ext cx="19050326" cy="5975359"/>
            <a:chOff x="0" y="0"/>
            <a:chExt cx="5017370" cy="1573757"/>
          </a:xfrm>
        </p:grpSpPr>
        <p:sp>
          <p:nvSpPr>
            <p:cNvPr name="Freeform 4" id="4"/>
            <p:cNvSpPr/>
            <p:nvPr/>
          </p:nvSpPr>
          <p:spPr>
            <a:xfrm flipH="false" flipV="false" rot="0">
              <a:off x="0" y="0"/>
              <a:ext cx="5017370" cy="1573757"/>
            </a:xfrm>
            <a:custGeom>
              <a:avLst/>
              <a:gdLst/>
              <a:ahLst/>
              <a:cxnLst/>
              <a:rect r="r" b="b" t="t" l="l"/>
              <a:pathLst>
                <a:path h="1573757" w="5017370">
                  <a:moveTo>
                    <a:pt x="0" y="0"/>
                  </a:moveTo>
                  <a:lnTo>
                    <a:pt x="5017370" y="0"/>
                  </a:lnTo>
                  <a:lnTo>
                    <a:pt x="5017370" y="1573757"/>
                  </a:lnTo>
                  <a:lnTo>
                    <a:pt x="0" y="1573757"/>
                  </a:lnTo>
                  <a:close/>
                </a:path>
              </a:pathLst>
            </a:custGeom>
            <a:solidFill>
              <a:srgbClr val="253754"/>
            </a:solidFill>
            <a:ln cap="sq">
              <a:noFill/>
              <a:prstDash val="solid"/>
              <a:miter/>
            </a:ln>
          </p:spPr>
        </p:sp>
        <p:sp>
          <p:nvSpPr>
            <p:cNvPr name="TextBox 5" id="5"/>
            <p:cNvSpPr txBox="true"/>
            <p:nvPr/>
          </p:nvSpPr>
          <p:spPr>
            <a:xfrm>
              <a:off x="0" y="9525"/>
              <a:ext cx="5017370" cy="1564232"/>
            </a:xfrm>
            <a:prstGeom prst="rect">
              <a:avLst/>
            </a:prstGeom>
          </p:spPr>
          <p:txBody>
            <a:bodyPr anchor="ctr" rtlCol="false" tIns="50800" lIns="50800" bIns="50800" rIns="50800"/>
            <a:lstStyle/>
            <a:p>
              <a:pPr algn="ctr">
                <a:lnSpc>
                  <a:spcPts val="2121"/>
                </a:lnSpc>
              </a:pPr>
            </a:p>
          </p:txBody>
        </p:sp>
      </p:grpSp>
      <p:sp>
        <p:nvSpPr>
          <p:cNvPr name="Freeform 6" id="6"/>
          <p:cNvSpPr/>
          <p:nvPr/>
        </p:nvSpPr>
        <p:spPr>
          <a:xfrm flipH="false" flipV="false" rot="0">
            <a:off x="284248" y="-713185"/>
            <a:ext cx="1488904" cy="1931362"/>
          </a:xfrm>
          <a:custGeom>
            <a:avLst/>
            <a:gdLst/>
            <a:ahLst/>
            <a:cxnLst/>
            <a:rect r="r" b="b" t="t" l="l"/>
            <a:pathLst>
              <a:path h="1931362" w="1488904">
                <a:moveTo>
                  <a:pt x="0" y="0"/>
                </a:moveTo>
                <a:lnTo>
                  <a:pt x="1488904" y="0"/>
                </a:lnTo>
                <a:lnTo>
                  <a:pt x="1488904" y="1931362"/>
                </a:lnTo>
                <a:lnTo>
                  <a:pt x="0" y="19313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744452" y="252496"/>
            <a:ext cx="1488904" cy="1931362"/>
          </a:xfrm>
          <a:custGeom>
            <a:avLst/>
            <a:gdLst/>
            <a:ahLst/>
            <a:cxnLst/>
            <a:rect r="r" b="b" t="t" l="l"/>
            <a:pathLst>
              <a:path h="1931362" w="1488904">
                <a:moveTo>
                  <a:pt x="0" y="0"/>
                </a:moveTo>
                <a:lnTo>
                  <a:pt x="1488904" y="0"/>
                </a:lnTo>
                <a:lnTo>
                  <a:pt x="1488904" y="1931362"/>
                </a:lnTo>
                <a:lnTo>
                  <a:pt x="0" y="19313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8798399">
            <a:off x="-5182969" y="4879852"/>
            <a:ext cx="9798172" cy="13143890"/>
          </a:xfrm>
          <a:custGeom>
            <a:avLst/>
            <a:gdLst/>
            <a:ahLst/>
            <a:cxnLst/>
            <a:rect r="r" b="b" t="t" l="l"/>
            <a:pathLst>
              <a:path h="13143890" w="9798172">
                <a:moveTo>
                  <a:pt x="0" y="0"/>
                </a:moveTo>
                <a:lnTo>
                  <a:pt x="9798172" y="0"/>
                </a:lnTo>
                <a:lnTo>
                  <a:pt x="9798172"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7421889" y="3637685"/>
            <a:ext cx="10363570" cy="4559971"/>
          </a:xfrm>
          <a:custGeom>
            <a:avLst/>
            <a:gdLst/>
            <a:ahLst/>
            <a:cxnLst/>
            <a:rect r="r" b="b" t="t" l="l"/>
            <a:pathLst>
              <a:path h="4559971" w="10363570">
                <a:moveTo>
                  <a:pt x="0" y="0"/>
                </a:moveTo>
                <a:lnTo>
                  <a:pt x="10363570" y="0"/>
                </a:lnTo>
                <a:lnTo>
                  <a:pt x="10363570" y="4559971"/>
                </a:lnTo>
                <a:lnTo>
                  <a:pt x="0" y="4559971"/>
                </a:lnTo>
                <a:lnTo>
                  <a:pt x="0" y="0"/>
                </a:lnTo>
                <a:close/>
              </a:path>
            </a:pathLst>
          </a:custGeom>
          <a:blipFill>
            <a:blip r:embed="rId6"/>
            <a:stretch>
              <a:fillRect l="0" t="0" r="0" b="0"/>
            </a:stretch>
          </a:blipFill>
        </p:spPr>
      </p:sp>
      <p:sp>
        <p:nvSpPr>
          <p:cNvPr name="TextBox 10" id="10"/>
          <p:cNvSpPr txBox="true"/>
          <p:nvPr/>
        </p:nvSpPr>
        <p:spPr>
          <a:xfrm rot="0">
            <a:off x="3581684" y="520657"/>
            <a:ext cx="10858257" cy="1252164"/>
          </a:xfrm>
          <a:prstGeom prst="rect">
            <a:avLst/>
          </a:prstGeom>
        </p:spPr>
        <p:txBody>
          <a:bodyPr anchor="t" rtlCol="false" tIns="0" lIns="0" bIns="0" rIns="0">
            <a:spAutoFit/>
          </a:bodyPr>
          <a:lstStyle/>
          <a:p>
            <a:pPr algn="ctr">
              <a:lnSpc>
                <a:spcPts val="10258"/>
              </a:lnSpc>
            </a:pPr>
            <a:r>
              <a:rPr lang="en-US" b="true" sz="7327" spc="688">
                <a:solidFill>
                  <a:srgbClr val="EDE8E4"/>
                </a:solidFill>
                <a:latin typeface="Glacial Indifference Bold"/>
                <a:ea typeface="Glacial Indifference Bold"/>
                <a:cs typeface="Glacial Indifference Bold"/>
                <a:sym typeface="Glacial Indifference Bold"/>
              </a:rPr>
              <a:t>DATA REPLICATION</a:t>
            </a:r>
          </a:p>
        </p:txBody>
      </p:sp>
      <p:sp>
        <p:nvSpPr>
          <p:cNvPr name="TextBox 11" id="11"/>
          <p:cNvSpPr txBox="true"/>
          <p:nvPr/>
        </p:nvSpPr>
        <p:spPr>
          <a:xfrm rot="0">
            <a:off x="1028700" y="3076160"/>
            <a:ext cx="5855100" cy="6443091"/>
          </a:xfrm>
          <a:prstGeom prst="rect">
            <a:avLst/>
          </a:prstGeom>
        </p:spPr>
        <p:txBody>
          <a:bodyPr anchor="t" rtlCol="false" tIns="0" lIns="0" bIns="0" rIns="0">
            <a:spAutoFit/>
          </a:bodyPr>
          <a:lstStyle/>
          <a:p>
            <a:pPr algn="just">
              <a:lnSpc>
                <a:spcPts val="3926"/>
              </a:lnSpc>
              <a:spcBef>
                <a:spcPct val="0"/>
              </a:spcBef>
            </a:pPr>
            <a:r>
              <a:rPr lang="en-US" sz="3300">
                <a:solidFill>
                  <a:srgbClr val="000000"/>
                </a:solidFill>
                <a:latin typeface="Glacial Indifference"/>
                <a:ea typeface="Glacial Indifference"/>
                <a:cs typeface="Glacial Indifference"/>
                <a:sym typeface="Glacial Indifference"/>
              </a:rPr>
              <a:t>Para proporcionar un almacenamiento confiable, HDFS almacena archivos grandes en varias ubicaciones en un clúster grande, con cada archivo en una secuencia de bloques. </a:t>
            </a:r>
          </a:p>
          <a:p>
            <a:pPr algn="just">
              <a:lnSpc>
                <a:spcPts val="3926"/>
              </a:lnSpc>
              <a:spcBef>
                <a:spcPct val="0"/>
              </a:spcBef>
            </a:pPr>
          </a:p>
          <a:p>
            <a:pPr algn="just">
              <a:lnSpc>
                <a:spcPts val="3926"/>
              </a:lnSpc>
              <a:spcBef>
                <a:spcPct val="0"/>
              </a:spcBef>
            </a:pPr>
            <a:r>
              <a:rPr lang="en-US" sz="3300">
                <a:solidFill>
                  <a:srgbClr val="000000"/>
                </a:solidFill>
                <a:latin typeface="Glacial Indifference"/>
                <a:ea typeface="Glacial Indifference"/>
                <a:cs typeface="Glacial Indifference"/>
                <a:sym typeface="Glacial Indifference"/>
              </a:rPr>
              <a:t>Cada bloque se almacena en un archivo del mismo tamaño, excepto el bloque final, que se llena a medida que se agregan datos.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TextBox 2" id="2"/>
          <p:cNvSpPr txBox="true"/>
          <p:nvPr/>
        </p:nvSpPr>
        <p:spPr>
          <a:xfrm rot="0">
            <a:off x="1028700" y="1599218"/>
            <a:ext cx="5727912" cy="8123431"/>
          </a:xfrm>
          <a:prstGeom prst="rect">
            <a:avLst/>
          </a:prstGeom>
        </p:spPr>
        <p:txBody>
          <a:bodyPr anchor="t" rtlCol="false" tIns="0" lIns="0" bIns="0" rIns="0">
            <a:spAutoFit/>
          </a:bodyPr>
          <a:lstStyle/>
          <a:p>
            <a:pPr algn="l">
              <a:lnSpc>
                <a:spcPts val="4276"/>
              </a:lnSpc>
            </a:pPr>
            <a:r>
              <a:rPr lang="en-US" sz="3054" spc="67">
                <a:solidFill>
                  <a:srgbClr val="152540"/>
                </a:solidFill>
                <a:latin typeface="Glacial Indifference"/>
                <a:ea typeface="Glacial Indifference"/>
                <a:cs typeface="Glacial Indifference"/>
                <a:sym typeface="Glacial Indifference"/>
              </a:rPr>
              <a:t>Se basa en dividir los archivos en bloques, generalmente de 128 MB, y replicarlos en distintos nodos.</a:t>
            </a:r>
          </a:p>
          <a:p>
            <a:pPr algn="l">
              <a:lnSpc>
                <a:spcPts val="4276"/>
              </a:lnSpc>
            </a:pPr>
            <a:r>
              <a:rPr lang="en-US" sz="3054" spc="67" strike="noStrike" u="none">
                <a:solidFill>
                  <a:srgbClr val="152540"/>
                </a:solidFill>
                <a:latin typeface="Glacial Indifference"/>
                <a:ea typeface="Glacial Indifference"/>
                <a:cs typeface="Glacial Indifference"/>
                <a:sym typeface="Glacial Indifference"/>
              </a:rPr>
              <a:t>Cada bloque se replica en distintos nodos del cluster (normalmente 3 copias).</a:t>
            </a:r>
          </a:p>
          <a:p>
            <a:pPr algn="l">
              <a:lnSpc>
                <a:spcPts val="4276"/>
              </a:lnSpc>
            </a:pPr>
            <a:r>
              <a:rPr lang="en-US" sz="3054" spc="67" strike="noStrike" u="none">
                <a:solidFill>
                  <a:srgbClr val="152540"/>
                </a:solidFill>
                <a:latin typeface="Glacial Indifference"/>
                <a:ea typeface="Glacial Indifference"/>
                <a:cs typeface="Glacial Indifference"/>
                <a:sym typeface="Glacial Indifference"/>
              </a:rPr>
              <a:t> Esto garantiza:</a:t>
            </a:r>
          </a:p>
          <a:p>
            <a:pPr algn="l" marL="659548" indent="-329774" lvl="1">
              <a:lnSpc>
                <a:spcPts val="4276"/>
              </a:lnSpc>
              <a:buFont typeface="Arial"/>
              <a:buChar char="•"/>
            </a:pPr>
            <a:r>
              <a:rPr lang="en-US" sz="3054" spc="67" strike="noStrike" u="none">
                <a:solidFill>
                  <a:srgbClr val="152540"/>
                </a:solidFill>
                <a:latin typeface="Glacial Indifference"/>
                <a:ea typeface="Glacial Indifference"/>
                <a:cs typeface="Glacial Indifference"/>
                <a:sym typeface="Glacial Indifference"/>
              </a:rPr>
              <a:t>Disponibilidad: si un nodo falla, los datos siguen accesibles.</a:t>
            </a:r>
          </a:p>
          <a:p>
            <a:pPr algn="l" marL="659548" indent="-329774" lvl="1">
              <a:lnSpc>
                <a:spcPts val="4276"/>
              </a:lnSpc>
              <a:buFont typeface="Arial"/>
              <a:buChar char="•"/>
            </a:pPr>
            <a:r>
              <a:rPr lang="en-US" sz="3054" spc="67" strike="noStrike" u="none">
                <a:solidFill>
                  <a:srgbClr val="152540"/>
                </a:solidFill>
                <a:latin typeface="Glacial Indifference"/>
                <a:ea typeface="Glacial Indifference"/>
                <a:cs typeface="Glacial Indifference"/>
                <a:sym typeface="Glacial Indifference"/>
              </a:rPr>
              <a:t>Tolerancia a fallos: los datos se recuperan automáticamente desde otras copias.</a:t>
            </a:r>
          </a:p>
        </p:txBody>
      </p:sp>
      <p:sp>
        <p:nvSpPr>
          <p:cNvPr name="TextBox 3" id="3"/>
          <p:cNvSpPr txBox="true"/>
          <p:nvPr/>
        </p:nvSpPr>
        <p:spPr>
          <a:xfrm rot="0">
            <a:off x="6322647" y="918557"/>
            <a:ext cx="10936653" cy="737811"/>
          </a:xfrm>
          <a:prstGeom prst="rect">
            <a:avLst/>
          </a:prstGeom>
        </p:spPr>
        <p:txBody>
          <a:bodyPr anchor="t" rtlCol="false" tIns="0" lIns="0" bIns="0" rIns="0">
            <a:spAutoFit/>
          </a:bodyPr>
          <a:lstStyle/>
          <a:p>
            <a:pPr algn="ctr">
              <a:lnSpc>
                <a:spcPts val="6058"/>
              </a:lnSpc>
            </a:pPr>
            <a:r>
              <a:rPr lang="en-US" b="true" sz="4327" spc="406">
                <a:solidFill>
                  <a:srgbClr val="152540"/>
                </a:solidFill>
                <a:latin typeface="Glacial Indifference Bold"/>
                <a:ea typeface="Glacial Indifference Bold"/>
                <a:cs typeface="Glacial Indifference Bold"/>
                <a:sym typeface="Glacial Indifference Bold"/>
              </a:rPr>
              <a:t> ALMACENAMIENTO DISTRIBUIDO</a:t>
            </a:r>
          </a:p>
        </p:txBody>
      </p:sp>
      <p:sp>
        <p:nvSpPr>
          <p:cNvPr name="Freeform 4" id="4"/>
          <p:cNvSpPr/>
          <p:nvPr/>
        </p:nvSpPr>
        <p:spPr>
          <a:xfrm flipH="false" flipV="false" rot="-6399961">
            <a:off x="12838444" y="-938771"/>
            <a:ext cx="13805122" cy="17698875"/>
          </a:xfrm>
          <a:custGeom>
            <a:avLst/>
            <a:gdLst/>
            <a:ahLst/>
            <a:cxnLst/>
            <a:rect r="r" b="b" t="t" l="l"/>
            <a:pathLst>
              <a:path h="17698875" w="13805122">
                <a:moveTo>
                  <a:pt x="0" y="0"/>
                </a:moveTo>
                <a:lnTo>
                  <a:pt x="13805122" y="0"/>
                </a:lnTo>
                <a:lnTo>
                  <a:pt x="13805122" y="17698875"/>
                </a:lnTo>
                <a:lnTo>
                  <a:pt x="0" y="176988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0">
            <a:off x="17259300" y="8746182"/>
            <a:ext cx="1966466" cy="1884231"/>
          </a:xfrm>
          <a:custGeom>
            <a:avLst/>
            <a:gdLst/>
            <a:ahLst/>
            <a:cxnLst/>
            <a:rect r="r" b="b" t="t" l="l"/>
            <a:pathLst>
              <a:path h="1884231" w="1966466">
                <a:moveTo>
                  <a:pt x="0" y="0"/>
                </a:moveTo>
                <a:lnTo>
                  <a:pt x="1966466" y="0"/>
                </a:lnTo>
                <a:lnTo>
                  <a:pt x="1966466" y="1884231"/>
                </a:lnTo>
                <a:lnTo>
                  <a:pt x="0" y="18842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659918">
            <a:off x="-603174" y="-3663718"/>
            <a:ext cx="6556116" cy="6126988"/>
          </a:xfrm>
          <a:custGeom>
            <a:avLst/>
            <a:gdLst/>
            <a:ahLst/>
            <a:cxnLst/>
            <a:rect r="r" b="b" t="t" l="l"/>
            <a:pathLst>
              <a:path h="6126988" w="6556116">
                <a:moveTo>
                  <a:pt x="0" y="0"/>
                </a:moveTo>
                <a:lnTo>
                  <a:pt x="6556116" y="0"/>
                </a:lnTo>
                <a:lnTo>
                  <a:pt x="6556116" y="6126988"/>
                </a:lnTo>
                <a:lnTo>
                  <a:pt x="0" y="61269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7346505" y="3032406"/>
            <a:ext cx="9912795" cy="6083978"/>
          </a:xfrm>
          <a:custGeom>
            <a:avLst/>
            <a:gdLst/>
            <a:ahLst/>
            <a:cxnLst/>
            <a:rect r="r" b="b" t="t" l="l"/>
            <a:pathLst>
              <a:path h="6083978" w="9912795">
                <a:moveTo>
                  <a:pt x="0" y="0"/>
                </a:moveTo>
                <a:lnTo>
                  <a:pt x="9912795" y="0"/>
                </a:lnTo>
                <a:lnTo>
                  <a:pt x="9912795" y="6083978"/>
                </a:lnTo>
                <a:lnTo>
                  <a:pt x="0" y="6083978"/>
                </a:lnTo>
                <a:lnTo>
                  <a:pt x="0" y="0"/>
                </a:lnTo>
                <a:close/>
              </a:path>
            </a:pathLst>
          </a:custGeom>
          <a:blipFill>
            <a:blip r:embed="rId8"/>
            <a:stretch>
              <a:fillRect l="0" t="0" r="0" b="0"/>
            </a:stretch>
          </a:blipFill>
        </p:spPr>
      </p:sp>
      <p:sp>
        <p:nvSpPr>
          <p:cNvPr name="TextBox 8" id="8"/>
          <p:cNvSpPr txBox="true"/>
          <p:nvPr/>
        </p:nvSpPr>
        <p:spPr>
          <a:xfrm rot="0">
            <a:off x="9726199" y="315307"/>
            <a:ext cx="3641363" cy="688975"/>
          </a:xfrm>
          <a:prstGeom prst="rect">
            <a:avLst/>
          </a:prstGeom>
        </p:spPr>
        <p:txBody>
          <a:bodyPr anchor="t" rtlCol="false" tIns="0" lIns="0" bIns="0" rIns="0">
            <a:spAutoFit/>
          </a:bodyPr>
          <a:lstStyle/>
          <a:p>
            <a:pPr algn="l">
              <a:lnSpc>
                <a:spcPts val="5599"/>
              </a:lnSpc>
            </a:pPr>
            <a:r>
              <a:rPr lang="en-US" sz="3999" spc="375">
                <a:solidFill>
                  <a:srgbClr val="152540"/>
                </a:solidFill>
                <a:latin typeface="Glacial Indifference"/>
                <a:ea typeface="Glacial Indifference"/>
                <a:cs typeface="Glacial Indifference"/>
                <a:sym typeface="Glacial Indifference"/>
              </a:rPr>
              <a:t> MODELO DE</a:t>
            </a:r>
          </a:p>
        </p:txBody>
      </p:sp>
      <p:sp>
        <p:nvSpPr>
          <p:cNvPr name="TextBox 9" id="9"/>
          <p:cNvSpPr txBox="true"/>
          <p:nvPr/>
        </p:nvSpPr>
        <p:spPr>
          <a:xfrm rot="0">
            <a:off x="1028700" y="4916702"/>
            <a:ext cx="15526778" cy="259439"/>
          </a:xfrm>
          <a:prstGeom prst="rect">
            <a:avLst/>
          </a:prstGeom>
        </p:spPr>
        <p:txBody>
          <a:bodyPr anchor="t" rtlCol="false" tIns="0" lIns="0" bIns="0" rIns="0">
            <a:spAutoFit/>
          </a:bodyPr>
          <a:lstStyle/>
          <a:p>
            <a:pPr algn="ctr">
              <a:lnSpc>
                <a:spcPts val="2121"/>
              </a:lnSpc>
              <a:spcBef>
                <a:spcPct val="0"/>
              </a:spcBef>
            </a:pPr>
            <a:r>
              <a:rPr lang="en-US" sz="1782">
                <a:solidFill>
                  <a:srgbClr val="152540"/>
                </a:solidFill>
                <a:latin typeface="Open Sans"/>
                <a:ea typeface="Open Sans"/>
                <a:cs typeface="Open Sans"/>
                <a:sym typeface="Open Sans"/>
              </a:rPr>
              <a:t>.</a:t>
            </a:r>
          </a:p>
        </p:txBody>
      </p:sp>
      <p:sp>
        <p:nvSpPr>
          <p:cNvPr name="TextBox 10" id="10"/>
          <p:cNvSpPr txBox="true"/>
          <p:nvPr/>
        </p:nvSpPr>
        <p:spPr>
          <a:xfrm rot="0">
            <a:off x="1028700" y="4916702"/>
            <a:ext cx="15526778" cy="259439"/>
          </a:xfrm>
          <a:prstGeom prst="rect">
            <a:avLst/>
          </a:prstGeom>
        </p:spPr>
        <p:txBody>
          <a:bodyPr anchor="t" rtlCol="false" tIns="0" lIns="0" bIns="0" rIns="0">
            <a:spAutoFit/>
          </a:bodyPr>
          <a:lstStyle/>
          <a:p>
            <a:pPr algn="ctr">
              <a:lnSpc>
                <a:spcPts val="2121"/>
              </a:lnSpc>
              <a:spcBef>
                <a:spcPct val="0"/>
              </a:spcBef>
            </a:pPr>
            <a:r>
              <a:rPr lang="en-US" sz="1782">
                <a:solidFill>
                  <a:srgbClr val="152540"/>
                </a:solidFill>
                <a:latin typeface="Open Sans"/>
                <a:ea typeface="Open Sans"/>
                <a:cs typeface="Open Sans"/>
                <a:sym typeface="Open Sans"/>
              </a:rPr>
              <a: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sp>
        <p:nvSpPr>
          <p:cNvPr name="Freeform 2" id="2"/>
          <p:cNvSpPr/>
          <p:nvPr/>
        </p:nvSpPr>
        <p:spPr>
          <a:xfrm flipH="false" flipV="false" rot="0">
            <a:off x="-3863949" y="-1983120"/>
            <a:ext cx="8535602" cy="7976908"/>
          </a:xfrm>
          <a:custGeom>
            <a:avLst/>
            <a:gdLst/>
            <a:ahLst/>
            <a:cxnLst/>
            <a:rect r="r" b="b" t="t" l="l"/>
            <a:pathLst>
              <a:path h="7976908" w="8535602">
                <a:moveTo>
                  <a:pt x="0" y="0"/>
                </a:moveTo>
                <a:lnTo>
                  <a:pt x="8535602" y="0"/>
                </a:lnTo>
                <a:lnTo>
                  <a:pt x="8535602" y="7976908"/>
                </a:lnTo>
                <a:lnTo>
                  <a:pt x="0" y="79769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10151301">
            <a:off x="11164674" y="6546853"/>
            <a:ext cx="8535602" cy="7976908"/>
          </a:xfrm>
          <a:custGeom>
            <a:avLst/>
            <a:gdLst/>
            <a:ahLst/>
            <a:cxnLst/>
            <a:rect r="r" b="b" t="t" l="l"/>
            <a:pathLst>
              <a:path h="7976908" w="8535602">
                <a:moveTo>
                  <a:pt x="0" y="0"/>
                </a:moveTo>
                <a:lnTo>
                  <a:pt x="8535602" y="0"/>
                </a:lnTo>
                <a:lnTo>
                  <a:pt x="8535602" y="7976908"/>
                </a:lnTo>
                <a:lnTo>
                  <a:pt x="0" y="79769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4" id="4"/>
          <p:cNvGrpSpPr/>
          <p:nvPr/>
        </p:nvGrpSpPr>
        <p:grpSpPr>
          <a:xfrm rot="0">
            <a:off x="7662772" y="1563313"/>
            <a:ext cx="4474715" cy="3379191"/>
            <a:chOff x="0" y="0"/>
            <a:chExt cx="997323" cy="753153"/>
          </a:xfrm>
        </p:grpSpPr>
        <p:sp>
          <p:nvSpPr>
            <p:cNvPr name="Freeform 5" id="5"/>
            <p:cNvSpPr/>
            <p:nvPr/>
          </p:nvSpPr>
          <p:spPr>
            <a:xfrm flipH="false" flipV="false" rot="0">
              <a:off x="0" y="0"/>
              <a:ext cx="997323" cy="753153"/>
            </a:xfrm>
            <a:custGeom>
              <a:avLst/>
              <a:gdLst/>
              <a:ahLst/>
              <a:cxnLst/>
              <a:rect r="r" b="b" t="t" l="l"/>
              <a:pathLst>
                <a:path h="753153" w="997323">
                  <a:moveTo>
                    <a:pt x="102079" y="0"/>
                  </a:moveTo>
                  <a:lnTo>
                    <a:pt x="895245" y="0"/>
                  </a:lnTo>
                  <a:cubicBezTo>
                    <a:pt x="951621" y="0"/>
                    <a:pt x="997323" y="45702"/>
                    <a:pt x="997323" y="102079"/>
                  </a:cubicBezTo>
                  <a:lnTo>
                    <a:pt x="997323" y="651075"/>
                  </a:lnTo>
                  <a:cubicBezTo>
                    <a:pt x="997323" y="707451"/>
                    <a:pt x="951621" y="753153"/>
                    <a:pt x="895245" y="753153"/>
                  </a:cubicBezTo>
                  <a:lnTo>
                    <a:pt x="102079" y="753153"/>
                  </a:lnTo>
                  <a:cubicBezTo>
                    <a:pt x="45702" y="753153"/>
                    <a:pt x="0" y="707451"/>
                    <a:pt x="0" y="651075"/>
                  </a:cubicBezTo>
                  <a:lnTo>
                    <a:pt x="0" y="102079"/>
                  </a:lnTo>
                  <a:cubicBezTo>
                    <a:pt x="0" y="45702"/>
                    <a:pt x="45702" y="0"/>
                    <a:pt x="102079" y="0"/>
                  </a:cubicBezTo>
                  <a:close/>
                </a:path>
              </a:pathLst>
            </a:custGeom>
            <a:solidFill>
              <a:srgbClr val="000000">
                <a:alpha val="0"/>
              </a:srgbClr>
            </a:solidFill>
            <a:ln w="38100" cap="rnd">
              <a:solidFill>
                <a:srgbClr val="E3D8D4"/>
              </a:solidFill>
              <a:prstDash val="solid"/>
              <a:round/>
            </a:ln>
          </p:spPr>
        </p:sp>
        <p:sp>
          <p:nvSpPr>
            <p:cNvPr name="TextBox 6" id="6"/>
            <p:cNvSpPr txBox="true"/>
            <p:nvPr/>
          </p:nvSpPr>
          <p:spPr>
            <a:xfrm>
              <a:off x="0" y="9525"/>
              <a:ext cx="997323" cy="743628"/>
            </a:xfrm>
            <a:prstGeom prst="rect">
              <a:avLst/>
            </a:prstGeom>
          </p:spPr>
          <p:txBody>
            <a:bodyPr anchor="ctr" rtlCol="false" tIns="50800" lIns="50800" bIns="50800" rIns="50800"/>
            <a:lstStyle/>
            <a:p>
              <a:pPr algn="ctr">
                <a:lnSpc>
                  <a:spcPts val="2121"/>
                </a:lnSpc>
              </a:pPr>
            </a:p>
            <a:p>
              <a:pPr algn="ctr">
                <a:lnSpc>
                  <a:spcPts val="2121"/>
                </a:lnSpc>
              </a:pPr>
            </a:p>
          </p:txBody>
        </p:sp>
      </p:grpSp>
      <p:grpSp>
        <p:nvGrpSpPr>
          <p:cNvPr name="Group 7" id="7"/>
          <p:cNvGrpSpPr/>
          <p:nvPr/>
        </p:nvGrpSpPr>
        <p:grpSpPr>
          <a:xfrm rot="0">
            <a:off x="2843428" y="1563313"/>
            <a:ext cx="4474715" cy="3379191"/>
            <a:chOff x="0" y="0"/>
            <a:chExt cx="997323" cy="753153"/>
          </a:xfrm>
        </p:grpSpPr>
        <p:sp>
          <p:nvSpPr>
            <p:cNvPr name="Freeform 8" id="8"/>
            <p:cNvSpPr/>
            <p:nvPr/>
          </p:nvSpPr>
          <p:spPr>
            <a:xfrm flipH="false" flipV="false" rot="0">
              <a:off x="0" y="0"/>
              <a:ext cx="997323" cy="753153"/>
            </a:xfrm>
            <a:custGeom>
              <a:avLst/>
              <a:gdLst/>
              <a:ahLst/>
              <a:cxnLst/>
              <a:rect r="r" b="b" t="t" l="l"/>
              <a:pathLst>
                <a:path h="753153" w="997323">
                  <a:moveTo>
                    <a:pt x="102079" y="0"/>
                  </a:moveTo>
                  <a:lnTo>
                    <a:pt x="895245" y="0"/>
                  </a:lnTo>
                  <a:cubicBezTo>
                    <a:pt x="951621" y="0"/>
                    <a:pt x="997323" y="45702"/>
                    <a:pt x="997323" y="102079"/>
                  </a:cubicBezTo>
                  <a:lnTo>
                    <a:pt x="997323" y="651075"/>
                  </a:lnTo>
                  <a:cubicBezTo>
                    <a:pt x="997323" y="707451"/>
                    <a:pt x="951621" y="753153"/>
                    <a:pt x="895245" y="753153"/>
                  </a:cubicBezTo>
                  <a:lnTo>
                    <a:pt x="102079" y="753153"/>
                  </a:lnTo>
                  <a:cubicBezTo>
                    <a:pt x="45702" y="753153"/>
                    <a:pt x="0" y="707451"/>
                    <a:pt x="0" y="651075"/>
                  </a:cubicBezTo>
                  <a:lnTo>
                    <a:pt x="0" y="102079"/>
                  </a:lnTo>
                  <a:cubicBezTo>
                    <a:pt x="0" y="45702"/>
                    <a:pt x="45702" y="0"/>
                    <a:pt x="102079" y="0"/>
                  </a:cubicBezTo>
                  <a:close/>
                </a:path>
              </a:pathLst>
            </a:custGeom>
            <a:solidFill>
              <a:srgbClr val="000000">
                <a:alpha val="0"/>
              </a:srgbClr>
            </a:solidFill>
            <a:ln w="38100" cap="rnd">
              <a:solidFill>
                <a:srgbClr val="E3D8D4"/>
              </a:solidFill>
              <a:prstDash val="solid"/>
              <a:round/>
            </a:ln>
          </p:spPr>
        </p:sp>
        <p:sp>
          <p:nvSpPr>
            <p:cNvPr name="TextBox 9" id="9"/>
            <p:cNvSpPr txBox="true"/>
            <p:nvPr/>
          </p:nvSpPr>
          <p:spPr>
            <a:xfrm>
              <a:off x="0" y="9525"/>
              <a:ext cx="997323" cy="743628"/>
            </a:xfrm>
            <a:prstGeom prst="rect">
              <a:avLst/>
            </a:prstGeom>
          </p:spPr>
          <p:txBody>
            <a:bodyPr anchor="ctr" rtlCol="false" tIns="50800" lIns="50800" bIns="50800" rIns="50800"/>
            <a:lstStyle/>
            <a:p>
              <a:pPr algn="ctr">
                <a:lnSpc>
                  <a:spcPts val="2121"/>
                </a:lnSpc>
              </a:pPr>
            </a:p>
            <a:p>
              <a:pPr algn="ctr">
                <a:lnSpc>
                  <a:spcPts val="2121"/>
                </a:lnSpc>
              </a:pPr>
            </a:p>
          </p:txBody>
        </p:sp>
      </p:grpSp>
      <p:sp>
        <p:nvSpPr>
          <p:cNvPr name="TextBox 10" id="10"/>
          <p:cNvSpPr txBox="true"/>
          <p:nvPr/>
        </p:nvSpPr>
        <p:spPr>
          <a:xfrm rot="0">
            <a:off x="13092284" y="2784882"/>
            <a:ext cx="4680383" cy="1212102"/>
          </a:xfrm>
          <a:prstGeom prst="rect">
            <a:avLst/>
          </a:prstGeom>
        </p:spPr>
        <p:txBody>
          <a:bodyPr anchor="t" rtlCol="false" tIns="0" lIns="0" bIns="0" rIns="0">
            <a:spAutoFit/>
          </a:bodyPr>
          <a:lstStyle/>
          <a:p>
            <a:pPr algn="just">
              <a:lnSpc>
                <a:spcPts val="9841"/>
              </a:lnSpc>
            </a:pPr>
            <a:r>
              <a:rPr lang="en-US" sz="7029" spc="660">
                <a:solidFill>
                  <a:srgbClr val="EDE8E4"/>
                </a:solidFill>
                <a:latin typeface="Glacial Indifference"/>
                <a:ea typeface="Glacial Indifference"/>
                <a:cs typeface="Glacial Indifference"/>
                <a:sym typeface="Glacial Indifference"/>
              </a:rPr>
              <a:t>VENTAJAS</a:t>
            </a:r>
          </a:p>
        </p:txBody>
      </p:sp>
      <p:sp>
        <p:nvSpPr>
          <p:cNvPr name="Freeform 11" id="11"/>
          <p:cNvSpPr/>
          <p:nvPr/>
        </p:nvSpPr>
        <p:spPr>
          <a:xfrm flipH="false" flipV="false" rot="-10800000">
            <a:off x="7662772" y="1563313"/>
            <a:ext cx="4474715" cy="1033825"/>
          </a:xfrm>
          <a:custGeom>
            <a:avLst/>
            <a:gdLst/>
            <a:ahLst/>
            <a:cxnLst/>
            <a:rect r="r" b="b" t="t" l="l"/>
            <a:pathLst>
              <a:path h="1033825" w="4474715">
                <a:moveTo>
                  <a:pt x="0" y="0"/>
                </a:moveTo>
                <a:lnTo>
                  <a:pt x="4474715" y="0"/>
                </a:lnTo>
                <a:lnTo>
                  <a:pt x="4474715" y="1033825"/>
                </a:lnTo>
                <a:lnTo>
                  <a:pt x="0" y="1033825"/>
                </a:lnTo>
                <a:lnTo>
                  <a:pt x="0" y="0"/>
                </a:lnTo>
                <a:close/>
              </a:path>
            </a:pathLst>
          </a:custGeom>
          <a:blipFill>
            <a:blip r:embed="rId4">
              <a:extLst>
                <a:ext uri="{96DAC541-7B7A-43D3-8B79-37D633B846F1}">
                  <asvg:svgBlip xmlns:asvg="http://schemas.microsoft.com/office/drawing/2016/SVG/main" r:embed="rId5"/>
                </a:ext>
              </a:extLst>
            </a:blip>
            <a:stretch>
              <a:fillRect l="0" t="-473620" r="0" b="0"/>
            </a:stretch>
          </a:blipFill>
        </p:spPr>
      </p:sp>
      <p:sp>
        <p:nvSpPr>
          <p:cNvPr name="Freeform 12" id="12"/>
          <p:cNvSpPr/>
          <p:nvPr/>
        </p:nvSpPr>
        <p:spPr>
          <a:xfrm flipH="false" flipV="false" rot="-10800000">
            <a:off x="2843428" y="1563313"/>
            <a:ext cx="4474715" cy="1033825"/>
          </a:xfrm>
          <a:custGeom>
            <a:avLst/>
            <a:gdLst/>
            <a:ahLst/>
            <a:cxnLst/>
            <a:rect r="r" b="b" t="t" l="l"/>
            <a:pathLst>
              <a:path h="1033825" w="4474715">
                <a:moveTo>
                  <a:pt x="0" y="0"/>
                </a:moveTo>
                <a:lnTo>
                  <a:pt x="4474715" y="0"/>
                </a:lnTo>
                <a:lnTo>
                  <a:pt x="4474715" y="1033825"/>
                </a:lnTo>
                <a:lnTo>
                  <a:pt x="0" y="1033825"/>
                </a:lnTo>
                <a:lnTo>
                  <a:pt x="0" y="0"/>
                </a:lnTo>
                <a:close/>
              </a:path>
            </a:pathLst>
          </a:custGeom>
          <a:blipFill>
            <a:blip r:embed="rId4">
              <a:extLst>
                <a:ext uri="{96DAC541-7B7A-43D3-8B79-37D633B846F1}">
                  <asvg:svgBlip xmlns:asvg="http://schemas.microsoft.com/office/drawing/2016/SVG/main" r:embed="rId5"/>
                </a:ext>
              </a:extLst>
            </a:blip>
            <a:stretch>
              <a:fillRect l="0" t="-473620" r="0" b="0"/>
            </a:stretch>
          </a:blipFill>
        </p:spPr>
      </p:sp>
      <p:sp>
        <p:nvSpPr>
          <p:cNvPr name="TextBox 13" id="13"/>
          <p:cNvSpPr txBox="true"/>
          <p:nvPr/>
        </p:nvSpPr>
        <p:spPr>
          <a:xfrm rot="0">
            <a:off x="7995680" y="1600165"/>
            <a:ext cx="3804269" cy="994217"/>
          </a:xfrm>
          <a:prstGeom prst="rect">
            <a:avLst/>
          </a:prstGeom>
        </p:spPr>
        <p:txBody>
          <a:bodyPr anchor="t" rtlCol="false" tIns="0" lIns="0" bIns="0" rIns="0">
            <a:spAutoFit/>
          </a:bodyPr>
          <a:lstStyle/>
          <a:p>
            <a:pPr algn="ctr">
              <a:lnSpc>
                <a:spcPts val="4000"/>
              </a:lnSpc>
            </a:pPr>
            <a:r>
              <a:rPr lang="en-US" b="true" sz="2857" spc="120">
                <a:solidFill>
                  <a:srgbClr val="253754"/>
                </a:solidFill>
                <a:latin typeface="Glacial Indifference Bold"/>
                <a:ea typeface="Glacial Indifference Bold"/>
                <a:cs typeface="Glacial Indifference Bold"/>
                <a:sym typeface="Glacial Indifference Bold"/>
              </a:rPr>
              <a:t>Escalabilidad horizontal</a:t>
            </a:r>
          </a:p>
        </p:txBody>
      </p:sp>
      <p:sp>
        <p:nvSpPr>
          <p:cNvPr name="TextBox 14" id="14"/>
          <p:cNvSpPr txBox="true"/>
          <p:nvPr/>
        </p:nvSpPr>
        <p:spPr>
          <a:xfrm rot="0">
            <a:off x="3282392" y="1600165"/>
            <a:ext cx="3596786" cy="994217"/>
          </a:xfrm>
          <a:prstGeom prst="rect">
            <a:avLst/>
          </a:prstGeom>
        </p:spPr>
        <p:txBody>
          <a:bodyPr anchor="t" rtlCol="false" tIns="0" lIns="0" bIns="0" rIns="0">
            <a:spAutoFit/>
          </a:bodyPr>
          <a:lstStyle/>
          <a:p>
            <a:pPr algn="ctr">
              <a:lnSpc>
                <a:spcPts val="4000"/>
              </a:lnSpc>
            </a:pPr>
            <a:r>
              <a:rPr lang="en-US" b="true" sz="2857" spc="120">
                <a:solidFill>
                  <a:srgbClr val="253754"/>
                </a:solidFill>
                <a:latin typeface="Glacial Indifference Bold"/>
                <a:ea typeface="Glacial Indifference Bold"/>
                <a:cs typeface="Glacial Indifference Bold"/>
                <a:sym typeface="Glacial Indifference Bold"/>
              </a:rPr>
              <a:t>Alta tolerancia a fallos</a:t>
            </a:r>
          </a:p>
        </p:txBody>
      </p:sp>
      <p:sp>
        <p:nvSpPr>
          <p:cNvPr name="TextBox 15" id="15"/>
          <p:cNvSpPr txBox="true"/>
          <p:nvPr/>
        </p:nvSpPr>
        <p:spPr>
          <a:xfrm rot="0">
            <a:off x="8007454" y="2880132"/>
            <a:ext cx="3898551" cy="1298997"/>
          </a:xfrm>
          <a:prstGeom prst="rect">
            <a:avLst/>
          </a:prstGeom>
        </p:spPr>
        <p:txBody>
          <a:bodyPr anchor="t" rtlCol="false" tIns="0" lIns="0" bIns="0" rIns="0">
            <a:spAutoFit/>
          </a:bodyPr>
          <a:lstStyle/>
          <a:p>
            <a:pPr algn="just">
              <a:lnSpc>
                <a:spcPts val="3476"/>
              </a:lnSpc>
            </a:pPr>
            <a:r>
              <a:rPr lang="en-US" sz="2483" spc="54">
                <a:solidFill>
                  <a:srgbClr val="EDE8E4"/>
                </a:solidFill>
                <a:latin typeface="Glacial Indifference"/>
                <a:ea typeface="Glacial Indifference"/>
                <a:cs typeface="Glacial Indifference"/>
                <a:sym typeface="Glacial Indifference"/>
              </a:rPr>
              <a:t>Es p</a:t>
            </a:r>
            <a:r>
              <a:rPr lang="en-US" sz="2483" spc="54" strike="noStrike" u="none">
                <a:solidFill>
                  <a:srgbClr val="EDE8E4"/>
                </a:solidFill>
                <a:latin typeface="Glacial Indifference"/>
                <a:ea typeface="Glacial Indifference"/>
                <a:cs typeface="Glacial Indifference"/>
                <a:sym typeface="Glacial Indifference"/>
              </a:rPr>
              <a:t>osible añadir más servidores al clúster sin interrumpir el servicio.</a:t>
            </a:r>
          </a:p>
        </p:txBody>
      </p:sp>
      <p:sp>
        <p:nvSpPr>
          <p:cNvPr name="TextBox 16" id="16"/>
          <p:cNvSpPr txBox="true"/>
          <p:nvPr/>
        </p:nvSpPr>
        <p:spPr>
          <a:xfrm rot="0">
            <a:off x="3188110" y="2880132"/>
            <a:ext cx="3898551" cy="1737147"/>
          </a:xfrm>
          <a:prstGeom prst="rect">
            <a:avLst/>
          </a:prstGeom>
        </p:spPr>
        <p:txBody>
          <a:bodyPr anchor="t" rtlCol="false" tIns="0" lIns="0" bIns="0" rIns="0">
            <a:spAutoFit/>
          </a:bodyPr>
          <a:lstStyle/>
          <a:p>
            <a:pPr algn="just">
              <a:lnSpc>
                <a:spcPts val="3476"/>
              </a:lnSpc>
            </a:pPr>
            <a:r>
              <a:rPr lang="en-US" sz="2483" spc="54" strike="noStrike" u="none">
                <a:solidFill>
                  <a:srgbClr val="EDE8E4"/>
                </a:solidFill>
                <a:latin typeface="Glacial Indifference"/>
                <a:ea typeface="Glacial Indifference"/>
                <a:cs typeface="Glacial Indifference"/>
                <a:sym typeface="Glacial Indifference"/>
              </a:rPr>
              <a:t>Los datos se replican, por lo que el sistema continúa funcionando aunque un nodo falle.</a:t>
            </a:r>
          </a:p>
        </p:txBody>
      </p:sp>
      <p:sp>
        <p:nvSpPr>
          <p:cNvPr name="Freeform 17" id="17"/>
          <p:cNvSpPr/>
          <p:nvPr/>
        </p:nvSpPr>
        <p:spPr>
          <a:xfrm flipH="false" flipV="false" rot="0">
            <a:off x="-1446812" y="7841762"/>
            <a:ext cx="5482705" cy="4884592"/>
          </a:xfrm>
          <a:custGeom>
            <a:avLst/>
            <a:gdLst/>
            <a:ahLst/>
            <a:cxnLst/>
            <a:rect r="r" b="b" t="t" l="l"/>
            <a:pathLst>
              <a:path h="4884592" w="5482705">
                <a:moveTo>
                  <a:pt x="0" y="0"/>
                </a:moveTo>
                <a:lnTo>
                  <a:pt x="5482705" y="0"/>
                </a:lnTo>
                <a:lnTo>
                  <a:pt x="5482705" y="4884591"/>
                </a:lnTo>
                <a:lnTo>
                  <a:pt x="0" y="48845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8" id="18"/>
          <p:cNvSpPr/>
          <p:nvPr/>
        </p:nvSpPr>
        <p:spPr>
          <a:xfrm flipH="false" flipV="false" rot="10452176">
            <a:off x="15012576" y="-2759682"/>
            <a:ext cx="5482705" cy="4884592"/>
          </a:xfrm>
          <a:custGeom>
            <a:avLst/>
            <a:gdLst/>
            <a:ahLst/>
            <a:cxnLst/>
            <a:rect r="r" b="b" t="t" l="l"/>
            <a:pathLst>
              <a:path h="4884592" w="5482705">
                <a:moveTo>
                  <a:pt x="0" y="0"/>
                </a:moveTo>
                <a:lnTo>
                  <a:pt x="5482705" y="0"/>
                </a:lnTo>
                <a:lnTo>
                  <a:pt x="5482705" y="4884591"/>
                </a:lnTo>
                <a:lnTo>
                  <a:pt x="0" y="48845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grpSp>
        <p:nvGrpSpPr>
          <p:cNvPr name="Group 19" id="19"/>
          <p:cNvGrpSpPr/>
          <p:nvPr/>
        </p:nvGrpSpPr>
        <p:grpSpPr>
          <a:xfrm rot="0">
            <a:off x="9146314" y="5476875"/>
            <a:ext cx="4474715" cy="3492116"/>
            <a:chOff x="0" y="0"/>
            <a:chExt cx="997323" cy="778322"/>
          </a:xfrm>
        </p:grpSpPr>
        <p:sp>
          <p:nvSpPr>
            <p:cNvPr name="Freeform 20" id="20"/>
            <p:cNvSpPr/>
            <p:nvPr/>
          </p:nvSpPr>
          <p:spPr>
            <a:xfrm flipH="false" flipV="false" rot="0">
              <a:off x="0" y="0"/>
              <a:ext cx="997323" cy="778322"/>
            </a:xfrm>
            <a:custGeom>
              <a:avLst/>
              <a:gdLst/>
              <a:ahLst/>
              <a:cxnLst/>
              <a:rect r="r" b="b" t="t" l="l"/>
              <a:pathLst>
                <a:path h="778322" w="997323">
                  <a:moveTo>
                    <a:pt x="102079" y="0"/>
                  </a:moveTo>
                  <a:lnTo>
                    <a:pt x="895245" y="0"/>
                  </a:lnTo>
                  <a:cubicBezTo>
                    <a:pt x="951621" y="0"/>
                    <a:pt x="997323" y="45702"/>
                    <a:pt x="997323" y="102079"/>
                  </a:cubicBezTo>
                  <a:lnTo>
                    <a:pt x="997323" y="676243"/>
                  </a:lnTo>
                  <a:cubicBezTo>
                    <a:pt x="997323" y="732620"/>
                    <a:pt x="951621" y="778322"/>
                    <a:pt x="895245" y="778322"/>
                  </a:cubicBezTo>
                  <a:lnTo>
                    <a:pt x="102079" y="778322"/>
                  </a:lnTo>
                  <a:cubicBezTo>
                    <a:pt x="45702" y="778322"/>
                    <a:pt x="0" y="732620"/>
                    <a:pt x="0" y="676243"/>
                  </a:cubicBezTo>
                  <a:lnTo>
                    <a:pt x="0" y="102079"/>
                  </a:lnTo>
                  <a:cubicBezTo>
                    <a:pt x="0" y="45702"/>
                    <a:pt x="45702" y="0"/>
                    <a:pt x="102079" y="0"/>
                  </a:cubicBezTo>
                  <a:close/>
                </a:path>
              </a:pathLst>
            </a:custGeom>
            <a:solidFill>
              <a:srgbClr val="000000">
                <a:alpha val="0"/>
              </a:srgbClr>
            </a:solidFill>
            <a:ln w="38100" cap="rnd">
              <a:solidFill>
                <a:srgbClr val="E3D8D4"/>
              </a:solidFill>
              <a:prstDash val="solid"/>
              <a:round/>
            </a:ln>
          </p:spPr>
        </p:sp>
        <p:sp>
          <p:nvSpPr>
            <p:cNvPr name="TextBox 21" id="21"/>
            <p:cNvSpPr txBox="true"/>
            <p:nvPr/>
          </p:nvSpPr>
          <p:spPr>
            <a:xfrm>
              <a:off x="0" y="9525"/>
              <a:ext cx="997323" cy="768797"/>
            </a:xfrm>
            <a:prstGeom prst="rect">
              <a:avLst/>
            </a:prstGeom>
          </p:spPr>
          <p:txBody>
            <a:bodyPr anchor="ctr" rtlCol="false" tIns="50800" lIns="50800" bIns="50800" rIns="50800"/>
            <a:lstStyle/>
            <a:p>
              <a:pPr algn="ctr">
                <a:lnSpc>
                  <a:spcPts val="2121"/>
                </a:lnSpc>
              </a:pPr>
            </a:p>
            <a:p>
              <a:pPr algn="ctr">
                <a:lnSpc>
                  <a:spcPts val="2121"/>
                </a:lnSpc>
              </a:pPr>
            </a:p>
          </p:txBody>
        </p:sp>
      </p:grpSp>
      <p:grpSp>
        <p:nvGrpSpPr>
          <p:cNvPr name="Group 22" id="22"/>
          <p:cNvGrpSpPr/>
          <p:nvPr/>
        </p:nvGrpSpPr>
        <p:grpSpPr>
          <a:xfrm rot="0">
            <a:off x="4326970" y="5476875"/>
            <a:ext cx="4474715" cy="3492116"/>
            <a:chOff x="0" y="0"/>
            <a:chExt cx="997323" cy="778322"/>
          </a:xfrm>
        </p:grpSpPr>
        <p:sp>
          <p:nvSpPr>
            <p:cNvPr name="Freeform 23" id="23"/>
            <p:cNvSpPr/>
            <p:nvPr/>
          </p:nvSpPr>
          <p:spPr>
            <a:xfrm flipH="false" flipV="false" rot="0">
              <a:off x="0" y="0"/>
              <a:ext cx="997323" cy="778322"/>
            </a:xfrm>
            <a:custGeom>
              <a:avLst/>
              <a:gdLst/>
              <a:ahLst/>
              <a:cxnLst/>
              <a:rect r="r" b="b" t="t" l="l"/>
              <a:pathLst>
                <a:path h="778322" w="997323">
                  <a:moveTo>
                    <a:pt x="102079" y="0"/>
                  </a:moveTo>
                  <a:lnTo>
                    <a:pt x="895245" y="0"/>
                  </a:lnTo>
                  <a:cubicBezTo>
                    <a:pt x="951621" y="0"/>
                    <a:pt x="997323" y="45702"/>
                    <a:pt x="997323" y="102079"/>
                  </a:cubicBezTo>
                  <a:lnTo>
                    <a:pt x="997323" y="676243"/>
                  </a:lnTo>
                  <a:cubicBezTo>
                    <a:pt x="997323" y="732620"/>
                    <a:pt x="951621" y="778322"/>
                    <a:pt x="895245" y="778322"/>
                  </a:cubicBezTo>
                  <a:lnTo>
                    <a:pt x="102079" y="778322"/>
                  </a:lnTo>
                  <a:cubicBezTo>
                    <a:pt x="45702" y="778322"/>
                    <a:pt x="0" y="732620"/>
                    <a:pt x="0" y="676243"/>
                  </a:cubicBezTo>
                  <a:lnTo>
                    <a:pt x="0" y="102079"/>
                  </a:lnTo>
                  <a:cubicBezTo>
                    <a:pt x="0" y="45702"/>
                    <a:pt x="45702" y="0"/>
                    <a:pt x="102079" y="0"/>
                  </a:cubicBezTo>
                  <a:close/>
                </a:path>
              </a:pathLst>
            </a:custGeom>
            <a:solidFill>
              <a:srgbClr val="000000">
                <a:alpha val="0"/>
              </a:srgbClr>
            </a:solidFill>
            <a:ln w="38100" cap="rnd">
              <a:solidFill>
                <a:srgbClr val="E3D8D4"/>
              </a:solidFill>
              <a:prstDash val="solid"/>
              <a:round/>
            </a:ln>
          </p:spPr>
        </p:sp>
        <p:sp>
          <p:nvSpPr>
            <p:cNvPr name="TextBox 24" id="24"/>
            <p:cNvSpPr txBox="true"/>
            <p:nvPr/>
          </p:nvSpPr>
          <p:spPr>
            <a:xfrm>
              <a:off x="0" y="9525"/>
              <a:ext cx="997323" cy="768797"/>
            </a:xfrm>
            <a:prstGeom prst="rect">
              <a:avLst/>
            </a:prstGeom>
          </p:spPr>
          <p:txBody>
            <a:bodyPr anchor="ctr" rtlCol="false" tIns="50800" lIns="50800" bIns="50800" rIns="50800"/>
            <a:lstStyle/>
            <a:p>
              <a:pPr algn="ctr">
                <a:lnSpc>
                  <a:spcPts val="2121"/>
                </a:lnSpc>
              </a:pPr>
            </a:p>
            <a:p>
              <a:pPr algn="ctr">
                <a:lnSpc>
                  <a:spcPts val="2121"/>
                </a:lnSpc>
              </a:pPr>
            </a:p>
          </p:txBody>
        </p:sp>
      </p:grpSp>
      <p:sp>
        <p:nvSpPr>
          <p:cNvPr name="Freeform 25" id="25"/>
          <p:cNvSpPr/>
          <p:nvPr/>
        </p:nvSpPr>
        <p:spPr>
          <a:xfrm flipH="false" flipV="false" rot="-10800000">
            <a:off x="9146314" y="5476875"/>
            <a:ext cx="4474715" cy="1033825"/>
          </a:xfrm>
          <a:custGeom>
            <a:avLst/>
            <a:gdLst/>
            <a:ahLst/>
            <a:cxnLst/>
            <a:rect r="r" b="b" t="t" l="l"/>
            <a:pathLst>
              <a:path h="1033825" w="4474715">
                <a:moveTo>
                  <a:pt x="0" y="0"/>
                </a:moveTo>
                <a:lnTo>
                  <a:pt x="4474715" y="0"/>
                </a:lnTo>
                <a:lnTo>
                  <a:pt x="4474715" y="1033825"/>
                </a:lnTo>
                <a:lnTo>
                  <a:pt x="0" y="1033825"/>
                </a:lnTo>
                <a:lnTo>
                  <a:pt x="0" y="0"/>
                </a:lnTo>
                <a:close/>
              </a:path>
            </a:pathLst>
          </a:custGeom>
          <a:blipFill>
            <a:blip r:embed="rId4">
              <a:extLst>
                <a:ext uri="{96DAC541-7B7A-43D3-8B79-37D633B846F1}">
                  <asvg:svgBlip xmlns:asvg="http://schemas.microsoft.com/office/drawing/2016/SVG/main" r:embed="rId5"/>
                </a:ext>
              </a:extLst>
            </a:blip>
            <a:stretch>
              <a:fillRect l="0" t="-473620" r="0" b="0"/>
            </a:stretch>
          </a:blipFill>
        </p:spPr>
      </p:sp>
      <p:sp>
        <p:nvSpPr>
          <p:cNvPr name="Freeform 26" id="26"/>
          <p:cNvSpPr/>
          <p:nvPr/>
        </p:nvSpPr>
        <p:spPr>
          <a:xfrm flipH="false" flipV="false" rot="-10800000">
            <a:off x="4326970" y="5476875"/>
            <a:ext cx="4474715" cy="1033825"/>
          </a:xfrm>
          <a:custGeom>
            <a:avLst/>
            <a:gdLst/>
            <a:ahLst/>
            <a:cxnLst/>
            <a:rect r="r" b="b" t="t" l="l"/>
            <a:pathLst>
              <a:path h="1033825" w="4474715">
                <a:moveTo>
                  <a:pt x="0" y="0"/>
                </a:moveTo>
                <a:lnTo>
                  <a:pt x="4474715" y="0"/>
                </a:lnTo>
                <a:lnTo>
                  <a:pt x="4474715" y="1033825"/>
                </a:lnTo>
                <a:lnTo>
                  <a:pt x="0" y="1033825"/>
                </a:lnTo>
                <a:lnTo>
                  <a:pt x="0" y="0"/>
                </a:lnTo>
                <a:close/>
              </a:path>
            </a:pathLst>
          </a:custGeom>
          <a:blipFill>
            <a:blip r:embed="rId4">
              <a:extLst>
                <a:ext uri="{96DAC541-7B7A-43D3-8B79-37D633B846F1}">
                  <asvg:svgBlip xmlns:asvg="http://schemas.microsoft.com/office/drawing/2016/SVG/main" r:embed="rId5"/>
                </a:ext>
              </a:extLst>
            </a:blip>
            <a:stretch>
              <a:fillRect l="0" t="-473620" r="0" b="0"/>
            </a:stretch>
          </a:blipFill>
        </p:spPr>
      </p:sp>
      <p:sp>
        <p:nvSpPr>
          <p:cNvPr name="TextBox 27" id="27"/>
          <p:cNvSpPr txBox="true"/>
          <p:nvPr/>
        </p:nvSpPr>
        <p:spPr>
          <a:xfrm rot="0">
            <a:off x="9585279" y="5419725"/>
            <a:ext cx="3804269" cy="1065337"/>
          </a:xfrm>
          <a:prstGeom prst="rect">
            <a:avLst/>
          </a:prstGeom>
        </p:spPr>
        <p:txBody>
          <a:bodyPr anchor="t" rtlCol="false" tIns="0" lIns="0" bIns="0" rIns="0">
            <a:spAutoFit/>
          </a:bodyPr>
          <a:lstStyle/>
          <a:p>
            <a:pPr algn="ctr">
              <a:lnSpc>
                <a:spcPts val="4280"/>
              </a:lnSpc>
            </a:pPr>
            <a:r>
              <a:rPr lang="en-US" b="true" sz="3057" spc="128">
                <a:solidFill>
                  <a:srgbClr val="253754"/>
                </a:solidFill>
                <a:latin typeface="Glacial Indifference Bold"/>
                <a:ea typeface="Glacial Indifference Bold"/>
                <a:cs typeface="Glacial Indifference Bold"/>
                <a:sym typeface="Glacial Indifference Bold"/>
              </a:rPr>
              <a:t>Eficiencia en costos</a:t>
            </a:r>
          </a:p>
        </p:txBody>
      </p:sp>
      <p:sp>
        <p:nvSpPr>
          <p:cNvPr name="TextBox 28" id="28"/>
          <p:cNvSpPr txBox="true"/>
          <p:nvPr/>
        </p:nvSpPr>
        <p:spPr>
          <a:xfrm rot="0">
            <a:off x="4765935" y="5516483"/>
            <a:ext cx="3596786" cy="994217"/>
          </a:xfrm>
          <a:prstGeom prst="rect">
            <a:avLst/>
          </a:prstGeom>
        </p:spPr>
        <p:txBody>
          <a:bodyPr anchor="t" rtlCol="false" tIns="0" lIns="0" bIns="0" rIns="0">
            <a:spAutoFit/>
          </a:bodyPr>
          <a:lstStyle/>
          <a:p>
            <a:pPr algn="ctr">
              <a:lnSpc>
                <a:spcPts val="4000"/>
              </a:lnSpc>
            </a:pPr>
            <a:r>
              <a:rPr lang="en-US" b="true" sz="2857" spc="120">
                <a:solidFill>
                  <a:srgbClr val="253754"/>
                </a:solidFill>
                <a:latin typeface="Glacial Indifference Bold"/>
                <a:ea typeface="Glacial Indifference Bold"/>
                <a:cs typeface="Glacial Indifference Bold"/>
                <a:sym typeface="Glacial Indifference Bold"/>
              </a:rPr>
              <a:t>Procesamiento paralelo</a:t>
            </a:r>
          </a:p>
        </p:txBody>
      </p:sp>
      <p:sp>
        <p:nvSpPr>
          <p:cNvPr name="TextBox 29" id="29"/>
          <p:cNvSpPr txBox="true"/>
          <p:nvPr/>
        </p:nvSpPr>
        <p:spPr>
          <a:xfrm rot="0">
            <a:off x="9490997" y="6793693"/>
            <a:ext cx="3898551" cy="2175297"/>
          </a:xfrm>
          <a:prstGeom prst="rect">
            <a:avLst/>
          </a:prstGeom>
        </p:spPr>
        <p:txBody>
          <a:bodyPr anchor="t" rtlCol="false" tIns="0" lIns="0" bIns="0" rIns="0">
            <a:spAutoFit/>
          </a:bodyPr>
          <a:lstStyle/>
          <a:p>
            <a:pPr algn="just">
              <a:lnSpc>
                <a:spcPts val="3476"/>
              </a:lnSpc>
            </a:pPr>
            <a:r>
              <a:rPr lang="en-US" sz="2483" spc="54" strike="noStrike" u="none">
                <a:solidFill>
                  <a:srgbClr val="EDE8E4"/>
                </a:solidFill>
                <a:latin typeface="Glacial Indifference"/>
                <a:ea typeface="Glacial Indifference"/>
                <a:cs typeface="Glacial Indifference"/>
                <a:sym typeface="Glacial Indifference"/>
              </a:rPr>
              <a:t>Utiliza hardware común, lo que reduce significativamente los gastos de infraestructura.</a:t>
            </a:r>
          </a:p>
          <a:p>
            <a:pPr algn="just">
              <a:lnSpc>
                <a:spcPts val="3476"/>
              </a:lnSpc>
            </a:pPr>
          </a:p>
        </p:txBody>
      </p:sp>
      <p:sp>
        <p:nvSpPr>
          <p:cNvPr name="TextBox 30" id="30"/>
          <p:cNvSpPr txBox="true"/>
          <p:nvPr/>
        </p:nvSpPr>
        <p:spPr>
          <a:xfrm rot="0">
            <a:off x="4671653" y="6793693"/>
            <a:ext cx="3898551" cy="1737147"/>
          </a:xfrm>
          <a:prstGeom prst="rect">
            <a:avLst/>
          </a:prstGeom>
        </p:spPr>
        <p:txBody>
          <a:bodyPr anchor="t" rtlCol="false" tIns="0" lIns="0" bIns="0" rIns="0">
            <a:spAutoFit/>
          </a:bodyPr>
          <a:lstStyle/>
          <a:p>
            <a:pPr algn="just">
              <a:lnSpc>
                <a:spcPts val="3476"/>
              </a:lnSpc>
            </a:pPr>
            <a:r>
              <a:rPr lang="en-US" sz="2483" spc="54">
                <a:solidFill>
                  <a:srgbClr val="EDE8E4"/>
                </a:solidFill>
                <a:latin typeface="Glacial Indifference"/>
                <a:ea typeface="Glacial Indifference"/>
                <a:cs typeface="Glacial Indifference"/>
                <a:sym typeface="Glacial Indifference"/>
              </a:rPr>
              <a:t>Pe</a:t>
            </a:r>
            <a:r>
              <a:rPr lang="en-US" sz="2483" spc="54" strike="noStrike" u="none">
                <a:solidFill>
                  <a:srgbClr val="EDE8E4"/>
                </a:solidFill>
                <a:latin typeface="Glacial Indifference"/>
                <a:ea typeface="Glacial Indifference"/>
                <a:cs typeface="Glacial Indifference"/>
                <a:sym typeface="Glacial Indifference"/>
              </a:rPr>
              <a:t>rmite que los datos se procesen simultáneamente en diferentes nodos, mejorando el rendimiento.</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sp>
        <p:nvSpPr>
          <p:cNvPr name="Freeform 2" id="2"/>
          <p:cNvSpPr/>
          <p:nvPr/>
        </p:nvSpPr>
        <p:spPr>
          <a:xfrm flipH="false" flipV="false" rot="-8798399">
            <a:off x="15778170" y="-4707952"/>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603159" y="1126490"/>
            <a:ext cx="12740163" cy="8131810"/>
          </a:xfrm>
          <a:prstGeom prst="rect">
            <a:avLst/>
          </a:prstGeom>
        </p:spPr>
        <p:txBody>
          <a:bodyPr anchor="t" rtlCol="false" tIns="0" lIns="0" bIns="0" rIns="0">
            <a:spAutoFit/>
          </a:bodyPr>
          <a:lstStyle/>
          <a:p>
            <a:pPr algn="just" marL="669289" indent="-334645" lvl="1">
              <a:lnSpc>
                <a:spcPts val="4339"/>
              </a:lnSpc>
              <a:buFont typeface="Arial"/>
              <a:buChar char="•"/>
            </a:pPr>
            <a:r>
              <a:rPr lang="en-US" sz="3099" spc="68">
                <a:solidFill>
                  <a:srgbClr val="EDE8E4"/>
                </a:solidFill>
                <a:latin typeface="Glacial Indifference"/>
                <a:ea typeface="Glacial Indifference"/>
                <a:cs typeface="Glacial Indifference"/>
                <a:sym typeface="Glacial Indifference"/>
              </a:rPr>
              <a:t>Energía:  para monit</a:t>
            </a:r>
            <a:r>
              <a:rPr lang="en-US" sz="3099" spc="68" strike="noStrike" u="none">
                <a:solidFill>
                  <a:srgbClr val="EDE8E4"/>
                </a:solidFill>
                <a:latin typeface="Glacial Indifference"/>
                <a:ea typeface="Glacial Indifference"/>
                <a:cs typeface="Glacial Indifference"/>
                <a:sym typeface="Glacial Indifference"/>
              </a:rPr>
              <a:t>orear el rendimiento de las redes inteligentes en sus redes de transmisión, una empresa eléctrica puede acumular enormes volúmenes de datos.</a:t>
            </a:r>
          </a:p>
          <a:p>
            <a:pPr algn="just">
              <a:lnSpc>
                <a:spcPts val="4339"/>
              </a:lnSpc>
            </a:pPr>
          </a:p>
          <a:p>
            <a:pPr algn="just" marL="669289" indent="-334645" lvl="1">
              <a:lnSpc>
                <a:spcPts val="4339"/>
              </a:lnSpc>
              <a:buFont typeface="Arial"/>
              <a:buChar char="•"/>
            </a:pPr>
            <a:r>
              <a:rPr lang="en-US" sz="3099" spc="68" strike="noStrike" u="none">
                <a:solidFill>
                  <a:srgbClr val="EDE8E4"/>
                </a:solidFill>
                <a:latin typeface="Glacial Indifference"/>
                <a:ea typeface="Glacial Indifference"/>
                <a:cs typeface="Glacial Indifference"/>
                <a:sym typeface="Glacial Indifference"/>
              </a:rPr>
              <a:t>Atención médica: el volumen de registros médicos aumenta cada día. Los datos de equipos  y sensores de pacientes se pueden recopilar para un tratamiento e investigación.</a:t>
            </a:r>
          </a:p>
          <a:p>
            <a:pPr algn="just">
              <a:lnSpc>
                <a:spcPts val="4339"/>
              </a:lnSpc>
            </a:pPr>
          </a:p>
          <a:p>
            <a:pPr algn="just" marL="669289" indent="-334645" lvl="1">
              <a:lnSpc>
                <a:spcPts val="4339"/>
              </a:lnSpc>
              <a:buFont typeface="Arial"/>
              <a:buChar char="•"/>
            </a:pPr>
            <a:r>
              <a:rPr lang="en-US" sz="3099" spc="68" strike="noStrike" u="none">
                <a:solidFill>
                  <a:srgbClr val="EDE8E4"/>
                </a:solidFill>
                <a:latin typeface="Glacial Indifference"/>
                <a:ea typeface="Glacial Indifference"/>
                <a:cs typeface="Glacial Indifference"/>
                <a:sym typeface="Glacial Indifference"/>
              </a:rPr>
              <a:t>Marketing: los datos de los sistemas de </a:t>
            </a:r>
            <a:r>
              <a:rPr lang="en-US" sz="3099" spc="68" strike="noStrike" u="sng">
                <a:solidFill>
                  <a:srgbClr val="EDE8E4"/>
                </a:solidFill>
                <a:latin typeface="Glacial Indifference"/>
                <a:ea typeface="Glacial Indifference"/>
                <a:cs typeface="Glacial Indifference"/>
                <a:sym typeface="Glacial Indifference"/>
                <a:hlinkClick r:id="rId4" tooltip="https://www.ibm.com/mx-es/topics/crm"/>
              </a:rPr>
              <a:t>gestión de las relaciones con los clientes (CRM)</a:t>
            </a:r>
            <a:r>
              <a:rPr lang="en-US" sz="3099" spc="68" strike="noStrike" u="none">
                <a:solidFill>
                  <a:srgbClr val="EDE8E4"/>
                </a:solidFill>
                <a:latin typeface="Glacial Indifference"/>
                <a:ea typeface="Glacial Indifference"/>
                <a:cs typeface="Glacial Indifference"/>
                <a:sym typeface="Glacial Indifference"/>
              </a:rPr>
              <a:t>, los sistemas de punto de venta (PoS), las respuestas a las campañas y en redes sociales (muchas de ellas no estructuradas) se deben recopilar para analizarlos y orientar las futuras iniciativas de marketing.  analizar las grandes cantidades de datos generados.</a:t>
            </a:r>
          </a:p>
          <a:p>
            <a:pPr algn="just">
              <a:lnSpc>
                <a:spcPts val="4339"/>
              </a:lnSpc>
            </a:pPr>
          </a:p>
        </p:txBody>
      </p:sp>
      <p:sp>
        <p:nvSpPr>
          <p:cNvPr name="Freeform 4" id="4"/>
          <p:cNvSpPr/>
          <p:nvPr/>
        </p:nvSpPr>
        <p:spPr>
          <a:xfrm flipH="false" flipV="false" rot="-9794019">
            <a:off x="11953002" y="5668602"/>
            <a:ext cx="7682234" cy="7179397"/>
          </a:xfrm>
          <a:custGeom>
            <a:avLst/>
            <a:gdLst/>
            <a:ahLst/>
            <a:cxnLst/>
            <a:rect r="r" b="b" t="t" l="l"/>
            <a:pathLst>
              <a:path h="7179397" w="7682234">
                <a:moveTo>
                  <a:pt x="0" y="0"/>
                </a:moveTo>
                <a:lnTo>
                  <a:pt x="7682234" y="0"/>
                </a:lnTo>
                <a:lnTo>
                  <a:pt x="7682234" y="7179396"/>
                </a:lnTo>
                <a:lnTo>
                  <a:pt x="0" y="71793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TextBox 5" id="5"/>
          <p:cNvSpPr txBox="true"/>
          <p:nvPr/>
        </p:nvSpPr>
        <p:spPr>
          <a:xfrm rot="0">
            <a:off x="14701186" y="3220263"/>
            <a:ext cx="3885708" cy="2353253"/>
          </a:xfrm>
          <a:prstGeom prst="rect">
            <a:avLst/>
          </a:prstGeom>
        </p:spPr>
        <p:txBody>
          <a:bodyPr anchor="t" rtlCol="false" tIns="0" lIns="0" bIns="0" rIns="0">
            <a:spAutoFit/>
          </a:bodyPr>
          <a:lstStyle/>
          <a:p>
            <a:pPr algn="l">
              <a:lnSpc>
                <a:spcPts val="9418"/>
              </a:lnSpc>
            </a:pPr>
            <a:r>
              <a:rPr lang="en-US" b="true" sz="6727" spc="632">
                <a:solidFill>
                  <a:srgbClr val="253754"/>
                </a:solidFill>
                <a:latin typeface="Glacial Indifference Bold"/>
                <a:ea typeface="Glacial Indifference Bold"/>
                <a:cs typeface="Glacial Indifference Bold"/>
                <a:sym typeface="Glacial Indifference Bold"/>
              </a:rPr>
              <a:t>CASOS DE USO</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sp>
        <p:nvSpPr>
          <p:cNvPr name="TextBox 2" id="2"/>
          <p:cNvSpPr txBox="true"/>
          <p:nvPr/>
        </p:nvSpPr>
        <p:spPr>
          <a:xfrm rot="0">
            <a:off x="1028700" y="1596149"/>
            <a:ext cx="11125334" cy="7037552"/>
          </a:xfrm>
          <a:prstGeom prst="rect">
            <a:avLst/>
          </a:prstGeom>
        </p:spPr>
        <p:txBody>
          <a:bodyPr anchor="t" rtlCol="false" tIns="0" lIns="0" bIns="0" rIns="0">
            <a:spAutoFit/>
          </a:bodyPr>
          <a:lstStyle/>
          <a:p>
            <a:pPr algn="just" marL="659797" indent="-329899" lvl="1">
              <a:lnSpc>
                <a:spcPts val="4278"/>
              </a:lnSpc>
              <a:buFont typeface="Arial"/>
              <a:buChar char="•"/>
            </a:pPr>
            <a:r>
              <a:rPr lang="en-US" sz="3056" spc="67" strike="noStrike" u="none">
                <a:solidFill>
                  <a:srgbClr val="EDE8E4"/>
                </a:solidFill>
                <a:latin typeface="Glacial Indifference"/>
                <a:ea typeface="Glacial Indifference"/>
                <a:cs typeface="Glacial Indifference"/>
                <a:sym typeface="Glacial Indifference"/>
              </a:rPr>
              <a:t>Ventas minoristas: para comprender mejor a sus clientes, los minoristas pueden reunir y analizar datos de diversas fuentes. Esto incluye registros de ventas, interacciones de atención al cliente y redes sociales (tanto datos estructurados como no estructurados) para desarrollar nuevas estrategias de participación.</a:t>
            </a:r>
          </a:p>
          <a:p>
            <a:pPr algn="just">
              <a:lnSpc>
                <a:spcPts val="4278"/>
              </a:lnSpc>
            </a:pPr>
          </a:p>
          <a:p>
            <a:pPr algn="just" marL="659797" indent="-329899" lvl="1">
              <a:lnSpc>
                <a:spcPts val="4278"/>
              </a:lnSpc>
              <a:buFont typeface="Arial"/>
              <a:buChar char="•"/>
            </a:pPr>
            <a:r>
              <a:rPr lang="en-US" sz="3056" spc="67" strike="noStrike" u="none">
                <a:solidFill>
                  <a:srgbClr val="EDE8E4"/>
                </a:solidFill>
                <a:latin typeface="Glacial Indifference"/>
                <a:ea typeface="Glacial Indifference"/>
                <a:cs typeface="Glacial Indifference"/>
                <a:sym typeface="Glacial Indifference"/>
              </a:rPr>
              <a:t>Telecomunicaciones: HDFS puede ayudar a las empresas de telecomunicaciones a construir rutas de red sólidas, realizar </a:t>
            </a:r>
            <a:r>
              <a:rPr lang="en-US" sz="3056" spc="67" strike="noStrike" u="sng">
                <a:solidFill>
                  <a:srgbClr val="EDE8E4"/>
                </a:solidFill>
                <a:latin typeface="Glacial Indifference"/>
                <a:ea typeface="Glacial Indifference"/>
                <a:cs typeface="Glacial Indifference"/>
                <a:sym typeface="Glacial Indifference"/>
                <a:hlinkClick r:id="rId2" tooltip="https://www.ibm.com/mx-es/topics/predictive-maintenance"/>
              </a:rPr>
              <a:t>mantenimiento predictivo</a:t>
            </a:r>
            <a:r>
              <a:rPr lang="en-US" sz="3056" spc="67" strike="noStrike" u="none">
                <a:solidFill>
                  <a:srgbClr val="EDE8E4"/>
                </a:solidFill>
                <a:latin typeface="Glacial Indifference"/>
                <a:ea typeface="Glacial Indifference"/>
                <a:cs typeface="Glacial Indifference"/>
                <a:sym typeface="Glacial Indifference"/>
              </a:rPr>
              <a:t>, indicar opciones prometedoras de expansión de red y analizar el comportamiento de los clientes.</a:t>
            </a:r>
          </a:p>
          <a:p>
            <a:pPr algn="just">
              <a:lnSpc>
                <a:spcPts val="4278"/>
              </a:lnSpc>
            </a:pPr>
          </a:p>
        </p:txBody>
      </p:sp>
      <p:sp>
        <p:nvSpPr>
          <p:cNvPr name="Freeform 3" id="3"/>
          <p:cNvSpPr/>
          <p:nvPr/>
        </p:nvSpPr>
        <p:spPr>
          <a:xfrm flipH="false" flipV="false" rot="8100000">
            <a:off x="9172955" y="-559604"/>
            <a:ext cx="12205086" cy="11406208"/>
          </a:xfrm>
          <a:custGeom>
            <a:avLst/>
            <a:gdLst/>
            <a:ahLst/>
            <a:cxnLst/>
            <a:rect r="r" b="b" t="t" l="l"/>
            <a:pathLst>
              <a:path h="11406208" w="12205086">
                <a:moveTo>
                  <a:pt x="0" y="0"/>
                </a:moveTo>
                <a:lnTo>
                  <a:pt x="12205086" y="0"/>
                </a:lnTo>
                <a:lnTo>
                  <a:pt x="12205086" y="11406208"/>
                </a:lnTo>
                <a:lnTo>
                  <a:pt x="0" y="114062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TextBox 4" id="4"/>
          <p:cNvSpPr txBox="true"/>
          <p:nvPr/>
        </p:nvSpPr>
        <p:spPr>
          <a:xfrm rot="0">
            <a:off x="14419520" y="3798281"/>
            <a:ext cx="5127156" cy="2547564"/>
          </a:xfrm>
          <a:prstGeom prst="rect">
            <a:avLst/>
          </a:prstGeom>
        </p:spPr>
        <p:txBody>
          <a:bodyPr anchor="t" rtlCol="false" tIns="0" lIns="0" bIns="0" rIns="0">
            <a:spAutoFit/>
          </a:bodyPr>
          <a:lstStyle/>
          <a:p>
            <a:pPr algn="l">
              <a:lnSpc>
                <a:spcPts val="10258"/>
              </a:lnSpc>
            </a:pPr>
            <a:r>
              <a:rPr lang="en-US" b="true" sz="7327" spc="688">
                <a:solidFill>
                  <a:srgbClr val="253754"/>
                </a:solidFill>
                <a:latin typeface="Glacial Indifference Bold"/>
                <a:ea typeface="Glacial Indifference Bold"/>
                <a:cs typeface="Glacial Indifference Bold"/>
                <a:sym typeface="Glacial Indifference Bold"/>
              </a:rPr>
              <a:t>CASOS DE USO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DAG1vZTXkNo</dc:identifier>
  <dcterms:modified xsi:type="dcterms:W3CDTF">2011-08-01T06:04:30Z</dcterms:modified>
  <cp:revision>1</cp:revision>
  <dc:title>HDFS y el modelo de almacenamiento distribuido</dc:title>
</cp:coreProperties>
</file>